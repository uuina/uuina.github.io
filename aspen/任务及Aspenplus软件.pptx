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825500"/>
            <a:ext cx="3556000" cy="355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D2D3"/>
                </a:solidFill>
                <a:latin typeface="Microsoft YaHei"/>
                <a:ea typeface="Microsoft YaHei"/>
              </a:rPr>
              <a:t>aspenONE V11 · 深冷与化工核心实训课件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97000"/>
            <a:ext cx="10668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200" b="1" i="0">
                <a:solidFill>
                  <a:srgbClr val="F8FAFC"/>
                </a:solidFill>
                <a:latin typeface="Microsoft YaHei"/>
                <a:ea typeface="Microsoft YaHei"/>
              </a:rPr>
              <a:t>面向低温空分设计的 Aspen HYSYS
流程模拟与工程计算实训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10668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0" i="0">
                <a:solidFill>
                  <a:srgbClr val="38BDF8"/>
                </a:solidFill>
                <a:latin typeface="Microsoft YaHei"/>
                <a:ea typeface="Microsoft YaHei"/>
              </a:rPr>
              <a:t>涵盖 Aspen Plus 严谨热力学、单元操作、相平衡闪蒸与工业级双塔精馏全流程工程设计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73500"/>
            <a:ext cx="10668000" cy="25400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127500"/>
            <a:ext cx="3429000" cy="101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500" y="4254500"/>
            <a:ext cx="304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• 工具体系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aspenONE V11 平台 · Aspen HYSYS 流程模拟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4127500"/>
            <a:ext cx="3429000" cy="101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4254500"/>
            <a:ext cx="304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• 工程对象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工业级 15,000 Nm³/h 全低压深冷双塔空气分离系统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127500"/>
            <a:ext cx="3429000" cy="101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1500" y="4254500"/>
            <a:ext cx="304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• 核心能力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严谨理论手算推导 + 计算机辅助稳态模拟优化与校核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适用专业：化学工程与工艺 / 能源与动力工程 / 过程装备与控制工程 / 低温与制冷工程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教学大纲 · 学习路径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实训课程核心架构与阶段式学习路线图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02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65200"/>
            <a:ext cx="3302000" cy="381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422400"/>
            <a:ext cx="330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模块一：软件基础与单元模拟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1803400"/>
            <a:ext cx="3302000" cy="18415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1.1 软件简介、工业定位与核心技术优势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1.2 多级架构关系、用户界面与运行环境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1.3 流程模拟一般步骤与典型单元操作实训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   • 例题1：轻烃混合物加压冷却与相平衡分离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   • 例题2：闭式丙烷机械压缩循环制冷模拟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3784600"/>
            <a:ext cx="3302000" cy="11684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【核心任务与攻坚点】掌握流体包指定、相平衡闪蒸机制、压缩机与换热器基本操作，掌握 PFD 颜色与自由度判断准则。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" y="5080000"/>
            <a:ext cx="3302000" cy="1041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76200" rIns="88900" rtlCol="0" anchor="ctr"/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284C7"/>
                </a:solidFill>
                <a:latin typeface="Microsoft YaHei"/>
                <a:ea typeface="Microsoft YaHei"/>
              </a:rPr>
              <a:t>【能力进阶要求】熟练掌握流体包定义、物性闪蒸与四大基础化工单元操作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6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45000" y="965200"/>
            <a:ext cx="3302000" cy="38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第二篇 · 空分设计与手算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00" y="1422400"/>
            <a:ext cx="330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模块二：空分课程设计工程手算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5000" y="1803400"/>
            <a:ext cx="3302000" cy="18415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2.1 课程设计目的、任务指标与设计规范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2.2 典型双塔空气分离流程全景架构解析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2.3 精馏核心设计参数严格工程手算推导：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   • 进料组分与氧物料平衡 (加工空气量)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   • 逆向压力网络链路 (空压机排压反推)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   • 绝热保冷漏热量分配与膨胀空气量平衡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5000" y="3784600"/>
            <a:ext cx="3302000" cy="11684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【核心任务与攻坚点】闭合全装置物料平衡（73,875 Nm³/h）、逆推压力网络链路（0.61 MPa）与全冷量平衡（8,220 Nm³/h）。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5000" y="5080000"/>
            <a:ext cx="3302000" cy="1041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76200" rIns="88900" rtlCol="0" anchor="ctr"/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Microsoft YaHei"/>
                <a:ea typeface="Microsoft YaHei"/>
              </a:rPr>
              <a:t>【能力进阶要求】掌握全装置物料平衡、工作压力链反推与全系统冷平衡手算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72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0" y="965200"/>
            <a:ext cx="3302000" cy="38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16A34A"/>
                </a:solidFill>
                <a:latin typeface="Microsoft YaHei"/>
                <a:ea typeface="Microsoft YaHei"/>
              </a:rPr>
              <a:t>工程实战 · 建模调优与交付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422400"/>
            <a:ext cx="330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模块三：工业级建模与成果验收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803400"/>
            <a:ext cx="3302000" cy="18415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2.4 空分双塔模拟关键技术指导与调优规范：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   • PR/PRSV 物性选择与透平动设备效率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   • 下塔过热气态进料控制与主冷传热温差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   • 双塔塔板数与富氧液空初值调优经验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2.5 课程设计规范交付文件清单 (说明书/CAD/HSC)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2.6 答辩汇报要点与工程素养进阶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784600"/>
            <a:ext cx="3302000" cy="11684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【核心任务与攻坚点】双塔子流程解耦收敛调试、主冷传热端差与操作压力协同寻优，输出 A1 图纸与严谨设计说明书。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080000"/>
            <a:ext cx="3302000" cy="1041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76200" rIns="88900" rtlCol="0" anchor="ctr"/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6A34A"/>
                </a:solidFill>
                <a:latin typeface="Microsoft YaHei"/>
                <a:ea typeface="Microsoft YaHei"/>
              </a:rPr>
              <a:t>【能力进阶要求】掌握空分精馏建模调优技术，输出 A1 图纸与规范设计说明书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6000" y="1778000"/>
            <a:ext cx="1778000" cy="355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D2D3"/>
                </a:solidFill>
                <a:latin typeface="Microsoft YaHei"/>
                <a:ea typeface="Microsoft YaHei"/>
              </a:rPr>
              <a:t>第一篇 · 模块导读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349500"/>
            <a:ext cx="10160000" cy="88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Microsoft YaHei"/>
                <a:ea typeface="Microsoft YaHei"/>
              </a:rPr>
              <a:t>Aspen HYSYS 软件基础与单元模拟实训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302000"/>
            <a:ext cx="1016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 i="0">
                <a:solidFill>
                  <a:srgbClr val="38BDF8"/>
                </a:solidFill>
                <a:latin typeface="Microsoft YaHei"/>
                <a:ea typeface="Microsoft YaHei"/>
              </a:rPr>
              <a:t>掌握面向现代石油化工与深冷气体工业的标准流程模拟平台，完成从软件环境熟悉到经典单元操作的实战过渡。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6000" y="4254500"/>
            <a:ext cx="3238500" cy="13335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6500" y="4381500"/>
            <a:ext cx="28575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1.1 软件基础概述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了解 HYSYS 发展历史、工业应用场景与四大核心优势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8500" y="4254500"/>
            <a:ext cx="3238500" cy="13335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9000" y="4381500"/>
            <a:ext cx="28575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1.2 架构与环境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掌握物性环境与模拟环境的分工协作，熟记 PFD 状态颜色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254500"/>
            <a:ext cx="3238500" cy="13335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1500" y="4381500"/>
            <a:ext cx="28575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1.3 典型案例精炼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上手闪蒸分离与丙烷循环制冷案例，熟悉进料、加压与冷凝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1.1.1 Aspen HYSYS 软件简介与工业应用领域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04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397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016500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284C7"/>
                </a:solidFill>
                <a:latin typeface="Microsoft YaHei"/>
                <a:ea typeface="Microsoft YaHei"/>
              </a:rPr>
              <a:t>软件定位与工程应用领域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• 核心定位：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Aspen HYSYS 是面向油气生产、天然气液化、深冷气体分离、炼油工业和化学工业的世界级过程模拟软件。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• 双模求解：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具备工业领先的稳态模拟（Steady State）与动态模拟（Dynamic）一体化求解功能，支持控制回路整定。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• 低温工程：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在深冷空分（Air Separation Units, ASU）、LNG 接收站及轻烃回收等深冷相平衡模拟中具有极高的业界认可度。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• 全生命周期：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覆盖从工艺概念设计、设备选型校核、装置操作优化，到数字孪生与操作员培训系统（OTS）全流程。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4889500"/>
            <a:ext cx="5016500" cy="1206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【工程教学定位】 </a:t>
            </a:r>
            <a:r>
              <a:rPr sz="950" b="0" i="0">
                <a:solidFill>
                  <a:srgbClr val="1E293B"/>
                </a:solidFill>
                <a:latin typeface="Microsoft YaHei"/>
                <a:ea typeface="Microsoft YaHei"/>
              </a:rPr>
              <a:t>掌握 HYSYS 在深冷相平衡与流体网络中的双向自适应推算特性，建立完整的工业级过程系统工程思维，为大型空分装置设计奠定坚实基石。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825500"/>
            <a:ext cx="5397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0" y="952500"/>
            <a:ext cx="5016500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284C7"/>
                </a:solidFill>
                <a:latin typeface="Microsoft YaHei"/>
                <a:ea typeface="Microsoft YaHei"/>
              </a:rPr>
              <a:t>软件发展历程与技术脉络</a:t>
            </a:r>
          </a:p>
          <a:p>
            <a:pPr>
              <a:spcBef>
                <a:spcPts val="800"/>
              </a:spcBef>
            </a:pPr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</a:rPr>
              <a:t>★ 1976年 · Hyprotech 成立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加拿大卡尔加里 Hyprotech 公司开发了初代 HYSIM 仿真平台，首创交互式双向流率推算架构。</a:t>
            </a:r>
          </a:p>
          <a:p>
            <a:pPr>
              <a:spcBef>
                <a:spcPts val="800"/>
              </a:spcBef>
            </a:pPr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</a:rPr>
              <a:t>★ 1996年 · 推出 HYSYS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采用现代面向对象架构重构，推出图形化 PFD 界面与集成的流体包体系，成为天然气工程事实标准。</a:t>
            </a:r>
          </a:p>
          <a:p>
            <a:pPr>
              <a:spcBef>
                <a:spcPts val="800"/>
              </a:spcBef>
            </a:pPr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</a:rPr>
              <a:t>★ 2002年 · AspenTech 并购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美国 Aspen Technology 公司正式收购 Hyprotech，将 HYSYS 纳入其统一的企业级工程模拟套件。</a:t>
            </a:r>
          </a:p>
          <a:p>
            <a:pPr>
              <a:spcBef>
                <a:spcPts val="800"/>
              </a:spcBef>
            </a:pPr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</a:rPr>
              <a:t>★ 2019+ · aspenONE V11 时代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深度融入 Aspen Plus 严谨热力学引擎与 Aspen EDR 详细换热器设计，提供跨平台工程与数字交付能力。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7000" y="4889500"/>
            <a:ext cx="5016500" cy="12065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D97706"/>
                </a:solidFill>
                <a:latin typeface="Microsoft YaHei"/>
                <a:ea typeface="Microsoft YaHei"/>
              </a:rPr>
              <a:t>【aspenONE 生态融合】 </a:t>
            </a:r>
            <a:r>
              <a:rPr sz="950" b="0" i="0">
                <a:solidFill>
                  <a:srgbClr val="1E293B"/>
                </a:solidFill>
                <a:latin typeface="Microsoft YaHei"/>
                <a:ea typeface="Microsoft YaHei"/>
              </a:rPr>
              <a:t>在 aspenONE V11 框架下，HYSYS 与 Aspen Plus 物性数据库无缝互通，同时支持 Aspen EDR 换热器详细水力学校核与经济学评价，贯通全生命周期工程设计。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1.1.2 Aspen HYSYS 四大核心技术优势与工程特性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05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77900"/>
            <a:ext cx="406400" cy="304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9525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先进的集成式工程环境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1358900"/>
            <a:ext cx="5143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双向自由度求解：输入参数与计算结果双向同步，无需手动设定迭代方向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主副流程数据实时共享：支持多级子流程（Subflowsheet）构建，数据层级互通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事件驱动型解算器：上游参数修改后，下游关联物流与模块即刻自适应更新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781300"/>
            <a:ext cx="5156200" cy="533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【实训体现】在空分流程中修改产品纯度要求，系统自动逆向推算所需进料空气量与主冷负荷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8255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5400" y="977900"/>
            <a:ext cx="406400" cy="304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9525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严谨的工业级热力学物性包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400" y="1358900"/>
            <a:ext cx="5143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海量物性数据库：内嵌 4,500+ 纯物质工业级物性常数与 20,000+ 二元交互参数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深冷专用物性方法：全面支持 Peng-Robinson (PR)、PRSV、SRK、Lee-Kesler 状态方程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支持用户物性扩展：允许添加自定义假组分（Hypothetical）与专有混合物配方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5400" y="2781300"/>
            <a:ext cx="5156200" cy="5334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【实训体现】在深冷双塔模拟中指定 Peng-Robinson 方程，自动计算气液平衡与焓熵物性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5941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0400" y="3746500"/>
            <a:ext cx="406400" cy="304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211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强大的实验数据回归引擎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" y="4127500"/>
            <a:ext cx="5143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相平衡数据精确拟合：支持实验室汽液平衡（VLE）、液液平衡（LLE）实验数据录入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状态方程二元参数回归：利用最小二乘法等数学算法快速回归交互作用参数 kij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工程精度保障：确保模拟模型与工业实测物性高度吻合，为精馏塔分离计算奠定坚实基础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400" y="5549900"/>
            <a:ext cx="5156200" cy="533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【实训体现】支持录入气液平衡实验数据回归二元参数 kij，提升精馏纯度预测精度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000" y="35941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75400" y="3746500"/>
            <a:ext cx="406400" cy="30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7211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工业自动化 DCS / SCADA 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5400" y="4127500"/>
            <a:ext cx="5143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动态链接库与 API：支持通过 DLL、COM 组件、OLE 自动化与 Python / C++ 外部脚本通信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在线闭环优化：可与霍尼韦尔、中控、横河等工业 DCS 系统挂接，实现实时在线监测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数字孪生与教学：支持快速搭建高保真操作员培训系统（OTS）与动态仿真平台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5400" y="5549900"/>
            <a:ext cx="5156200" cy="5334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【实训体现】支持与 Python / Excel 自动化接口通信，实现模型批量参数扫描与敏感性分析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1.2.1 Aspen HYSYS 多级流程体系与逻辑架构关系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06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4318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3937000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284C7"/>
                </a:solidFill>
                <a:latin typeface="Microsoft YaHei"/>
                <a:ea typeface="Microsoft YaHei"/>
              </a:rPr>
              <a:t>模型构建的核心逻辑关系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步骤 1：构建物性基础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在物性环境（Properties）中创建流体包。流体包是整个模拟的基础，包含组分清单（Components）与物性计算方法（Property Package）。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步骤 2：进入流程建模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完成物性定义后，点击进入模拟环境（Simulation）。在流程显示窗口（PFD）中添加单元操作模块，并用物流和能流将其相连构建拓扑。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步骤 3：层级自适应关联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HYSYS 支持在同一个算例（Case）中定义多个独立的流体包，并可分别赋给不同的设备或子流程，极大地提升了大型复杂流程建模的灵活性。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4889500"/>
            <a:ext cx="3937000" cy="1206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0284C7"/>
                </a:solidFill>
                <a:latin typeface="Microsoft YaHei"/>
                <a:ea typeface="Microsoft YaHei"/>
              </a:rPr>
              <a:t>【工程规范】 </a:t>
            </a:r>
            <a:r>
              <a:rPr sz="930" b="0" i="0">
                <a:solidFill>
                  <a:srgbClr val="1E293B"/>
                </a:solidFill>
                <a:latin typeface="Microsoft YaHei"/>
                <a:ea typeface="Microsoft YaHei"/>
              </a:rPr>
              <a:t>进入模拟环境前必须确认流体包状态条显示绿色 OK；若物性未收敛，进入模拟环境后所有单元操作将无法初始化计算，导致自由度求解受阻。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0" y="825500"/>
            <a:ext cx="6604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0" y="1079500"/>
            <a:ext cx="6096000" cy="2032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24500" y="1206500"/>
            <a:ext cx="5715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284C7"/>
                </a:solidFill>
                <a:latin typeface="Microsoft YaHei"/>
                <a:ea typeface="Microsoft YaHei"/>
              </a:rPr>
              <a:t>1. 物性环境层级：流体包（Fluid Package）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4500" y="1651000"/>
            <a:ext cx="18034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88000" y="1714500"/>
            <a:ext cx="167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组分列表 (Components)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选择标准化工组分（O₂, N₂, Ar 等）或定义假组分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9500" y="1651000"/>
            <a:ext cx="18034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3000" y="1714500"/>
            <a:ext cx="167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物性计算包 (Property Package)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选定状态方程（PR, PRSV 等）进行相平衡计算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651000"/>
            <a:ext cx="18034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8000" y="1714500"/>
            <a:ext cx="167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二元交互参数 (Binary Coeffs)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定义与校核各组分分子对之间的交互系数 kij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0" y="3365500"/>
            <a:ext cx="6096000" cy="2667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24500" y="3492500"/>
            <a:ext cx="5715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2. 模拟环境层级：流程拓扑（Flowsheet / PFD）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24500" y="3937000"/>
            <a:ext cx="5715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1500" y="3987800"/>
            <a:ext cx="546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284C7"/>
                </a:solidFill>
                <a:latin typeface="Microsoft YaHei"/>
                <a:ea typeface="Microsoft YaHei"/>
              </a:rPr>
              <a:t>• 单元操作 (Unit Operations)：</a:t>
            </a: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物理单元（精馏塔、压缩机、换热器、分离器等）与逻辑单元（循环 Recycle、调整 Adjust、电子表格）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24500" y="4597400"/>
            <a:ext cx="5715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51500" y="4648200"/>
            <a:ext cx="546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284C7"/>
                </a:solidFill>
                <a:latin typeface="Microsoft YaHei"/>
                <a:ea typeface="Microsoft YaHei"/>
              </a:rPr>
              <a:t>• 物流 (Material Streams)：</a:t>
            </a: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流经管线的工质，携带温度、压力、流量、焓值、熵值及各组分摩尔/质量分率等完整相态属性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24500" y="5257800"/>
            <a:ext cx="5715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51500" y="5308600"/>
            <a:ext cx="546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284C7"/>
                </a:solidFill>
                <a:latin typeface="Microsoft YaHei"/>
                <a:ea typeface="Microsoft YaHei"/>
              </a:rPr>
              <a:t>• 能流 (Energy Streams)：</a:t>
            </a: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表征过程热负荷（Duty）与机械功耗（Power），在加热器、冷却器、压缩机、膨胀机间流转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1.2.2 Aspen HYSYS 现代“壳”用户界面全景导览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07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6595" y="806450"/>
            <a:ext cx="3316808" cy="549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645" y="825500"/>
            <a:ext cx="3278708" cy="5461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2500" y="825500"/>
            <a:ext cx="3111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63000" y="1016000"/>
            <a:ext cx="27305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五大核心交互功能区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① 标题与快速访问栏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0" i="0">
                <a:solidFill>
                  <a:srgbClr val="64748B"/>
                </a:solidFill>
                <a:latin typeface="Microsoft YaHei"/>
                <a:ea typeface="Microsoft YaHei"/>
              </a:rPr>
              <a:t>包含新建、保存、撤销及全局搜索功能。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② 带状功能区 (Ribbon)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0" i="0">
                <a:solidFill>
                  <a:srgbClr val="64748B"/>
                </a:solidFill>
                <a:latin typeface="Microsoft YaHei"/>
                <a:ea typeface="Microsoft YaHei"/>
              </a:rPr>
              <a:t>集成 Home、Flowsheet、Economics 等选项卡，汇聚全部工程操作。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③ 导航窗格 (Navigation)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0" i="0">
                <a:solidFill>
                  <a:srgbClr val="64748B"/>
                </a:solidFill>
                <a:latin typeface="Microsoft YaHei"/>
                <a:ea typeface="Microsoft YaHei"/>
              </a:rPr>
              <a:t>左侧树状目录，快速切换查看 Workbook、物流表、工况分析等。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④ 流程显示窗口 (PFD)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0" i="0">
                <a:solidFill>
                  <a:srgbClr val="64748B"/>
                </a:solidFill>
                <a:latin typeface="Microsoft YaHei"/>
                <a:ea typeface="Microsoft YaHei"/>
              </a:rPr>
              <a:t>中央主画布，通过对象面板（Palette）拖拽摆放设备与管线。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⑤ 状态栏与求解控制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0" i="0">
                <a:solidFill>
                  <a:srgbClr val="64748B"/>
                </a:solidFill>
                <a:latin typeface="Microsoft YaHei"/>
                <a:ea typeface="Microsoft YaHei"/>
              </a:rPr>
              <a:t>底部实时显示求解器激活状态（Solver Active/Hold）与缩放比例。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1.2.2 流程显示窗口 (PFD) 状态颜色定义与工程语义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08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2730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65200"/>
            <a:ext cx="2425700" cy="406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0284C7"/>
                </a:solidFill>
                <a:latin typeface="Microsoft YaHei"/>
                <a:ea typeface="Microsoft YaHei"/>
              </a:rPr>
              <a:t>变量数值颜色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460500"/>
            <a:ext cx="24765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 i="0">
                <a:solidFill>
                  <a:srgbClr val="0284C7"/>
                </a:solidFill>
                <a:latin typeface="Microsoft YaHei"/>
                <a:ea typeface="Microsoft YaHei"/>
              </a:rPr>
              <a:t>■ 蓝色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用户手动输入的数值（自由度被用户指定消耗）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</a:rPr>
              <a:t>■ 红色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系统默认预设初值（可被用户输入覆盖）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■ 黑色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系统计算得出或固定锁定的数值（不可直接修改）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000" y="3873500"/>
            <a:ext cx="2476500" cy="1206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【排错技巧】黑色数值代表已被热力学方程锁定，修改时须先解除上游自由度指定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000" y="5270500"/>
            <a:ext cx="2476500" cy="8255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★ 规则：蓝色为强制输入，黑色由热力学方程求解计算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5500" y="825500"/>
            <a:ext cx="2730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17900" y="965200"/>
            <a:ext cx="2425700" cy="406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563EB"/>
                </a:solidFill>
                <a:latin typeface="Microsoft YaHei"/>
                <a:ea typeface="Microsoft YaHei"/>
              </a:rPr>
              <a:t>物流求解状态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2500" y="1460500"/>
            <a:ext cx="24765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 i="0">
                <a:solidFill>
                  <a:srgbClr val="38BDF8"/>
                </a:solidFill>
                <a:latin typeface="Microsoft YaHei"/>
                <a:ea typeface="Microsoft YaHei"/>
              </a:rPr>
              <a:t>■ 浅蓝色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未求解（自由度不足，如缺少温度、压力或摩尔组成）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</a:rPr>
              <a:t>■ 深蓝色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已经求解（相平衡闪蒸收敛，状态参数完整闭合）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2500" y="3873500"/>
            <a:ext cx="2476500" cy="1206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【排错技巧】浅蓝色说明自由度未闭合，双击进入 Worksheet 检查未输入的红色项目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2500" y="5270500"/>
            <a:ext cx="2476500" cy="825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563EB"/>
                </a:solidFill>
                <a:latin typeface="Microsoft YaHei"/>
                <a:ea typeface="Microsoft YaHei"/>
              </a:rPr>
              <a:t>★ 规则：浅蓝说明自由度未闭合，深蓝代表闪蒸完全收敛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000" y="825500"/>
            <a:ext cx="2730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75400" y="965200"/>
            <a:ext cx="24257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B45309"/>
                </a:solidFill>
                <a:latin typeface="Microsoft YaHei"/>
                <a:ea typeface="Microsoft YaHei"/>
              </a:rPr>
              <a:t>能流负荷状态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1460500"/>
            <a:ext cx="24765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 i="0">
                <a:solidFill>
                  <a:srgbClr val="A855F7"/>
                </a:solidFill>
                <a:latin typeface="Microsoft YaHei"/>
                <a:ea typeface="Microsoft YaHei"/>
              </a:rPr>
              <a:t>■ 浅紫色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未知负荷（进出口物流尚未完全求解，热量未定）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B91C1C"/>
                </a:solidFill>
                <a:latin typeface="Microsoft YaHei"/>
                <a:ea typeface="Microsoft YaHei"/>
              </a:rPr>
              <a:t>■ 深红色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已知负荷（热负荷或机械功耗已精确求解完毕）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0000" y="3873500"/>
            <a:ext cx="2476500" cy="1206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【排错技巧】浅紫色表示热负荷未知，补全设备进出口温度后能流自动转为深红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0000" y="5270500"/>
            <a:ext cx="2476500" cy="825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B45309"/>
                </a:solidFill>
                <a:latin typeface="Microsoft YaHei"/>
                <a:ea typeface="Microsoft YaHei"/>
              </a:rPr>
              <a:t>★ 规则：紫色需先补充物流条件，深红代表能流闭合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0500" y="825500"/>
            <a:ext cx="2730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32900" y="965200"/>
            <a:ext cx="2425700" cy="406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16A34A"/>
                </a:solidFill>
                <a:latin typeface="Microsoft YaHei"/>
                <a:ea typeface="Microsoft YaHei"/>
              </a:rPr>
              <a:t>单元操作状态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7500" y="1460500"/>
            <a:ext cx="24765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</a:rPr>
              <a:t>■ 红色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缺少必需的物流连接，计算尚未开始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CA8A04"/>
                </a:solidFill>
                <a:latin typeface="Microsoft YaHei"/>
                <a:ea typeface="Microsoft YaHei"/>
              </a:rPr>
              <a:t>■ 黄色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缺少操作参数，或求解器产生警告/未完全收敛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</a:rPr>
              <a:t>■ 深灰/黑色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完全求解成功（Solver Converged，模型正常）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7500" y="3873500"/>
            <a:ext cx="2476500" cy="1206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【排错技巧】黄色表示参数不足或未收敛，双击打开模块并在底部状态栏查看黄色告警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7500" y="5270500"/>
            <a:ext cx="2476500" cy="825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16A34A"/>
                </a:solidFill>
                <a:latin typeface="Microsoft YaHei"/>
                <a:ea typeface="Microsoft YaHei"/>
              </a:rPr>
              <a:t>★ 规则：红连管线、黄补参数，深灰为求解完全成功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1.2.3 全局参数首选项与工程单位制自定义规范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09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4318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3937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单位制配置原则与操作步骤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进入设置路径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点击菜单栏 File（文件） -&gt; 选择 Options（选项） -&gt; 点击 Preferences（首选项）。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单位制管理 (Unit Sets)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系统预设 SI（国际标准制）、Field（美制工程制）、EuroSI 等模板。预设模板只读，不可直接更改。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自定义教学单位制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在预设 SI 基础上点击 Clone（克隆），重命名为 My-SI，修改常用工程单位：
• 压力：kPa / MPa
• 温度：℃
• 气体流量：Nm³/h 或 kmol/h
• 能量负荷：kJ/h 或 kW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保存并设为缺省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配置完成后点击 Save Preference Set，即可使所有新建工程自动沿用该工程单位制。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4889500"/>
            <a:ext cx="3937000" cy="1206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0284C7"/>
                </a:solidFill>
                <a:latin typeface="Microsoft YaHei"/>
                <a:ea typeface="Microsoft YaHei"/>
              </a:rPr>
              <a:t>【推荐规范】 </a:t>
            </a:r>
            <a:r>
              <a:rPr sz="930" b="0" i="0">
                <a:solidFill>
                  <a:srgbClr val="1E293B"/>
                </a:solidFill>
                <a:latin typeface="Microsoft YaHei"/>
                <a:ea typeface="Microsoft YaHei"/>
              </a:rPr>
              <a:t>建议将常用工程单位制另存为独立 Preference 文件（*.prf），并设为默认启动配置，避免每个新项目重复配置量纲换算。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0950" y="1734608"/>
            <a:ext cx="6642100" cy="36427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753658"/>
            <a:ext cx="6604000" cy="36046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1.2.4 物性环境与模拟环境两大核心工作区解析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10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461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080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1. 物性环境 (Properties Environment)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建立数学与热力学基础。定义流体包（Fluid Package），完成组分添加、物性计算方法指定、化学反应定义及二元交互参数设定。物性未收敛前无法进入模拟环境。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450" y="2563283"/>
            <a:ext cx="5118100" cy="28109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582333"/>
            <a:ext cx="5080000" cy="27728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23000" y="825500"/>
            <a:ext cx="5461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3500" y="952500"/>
            <a:ext cx="5080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2. 模拟环境 (Simulation Environment)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工程仿真与流程实施主战场。在 PFD 画布中摆放单元操作，建立物料流与能量流拓扑关系，设定进料状态与单元操作规格，进行多变量耦合求解与结果校核。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4450" y="2563283"/>
            <a:ext cx="5118100" cy="28109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2582333"/>
            <a:ext cx="5080000" cy="27728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Aspen HYSYS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1.3.1 过程流程模拟的六大标准执行步骤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11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77900"/>
            <a:ext cx="825500" cy="304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0284C7"/>
                </a:solidFill>
                <a:latin typeface="Microsoft YaHei"/>
                <a:ea typeface="Microsoft YaHei"/>
              </a:rPr>
              <a:t>步骤 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7500" y="952500"/>
            <a:ext cx="2413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定义物性环境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1358900"/>
            <a:ext cx="3302000" cy="120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 Properties 环境中添加参与模拟的所有纯组分，选定适用的状态方程（如 Peng-Robinson），确保热力学基础收敛。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679700"/>
            <a:ext cx="3302000" cy="6096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【核心操作】添加纯组分并指定 PR 状态方程，确保底部状态条显示绿色 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6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45000" y="977900"/>
            <a:ext cx="825500" cy="304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0284C7"/>
                </a:solidFill>
                <a:latin typeface="Microsoft YaHei"/>
                <a:ea typeface="Microsoft YaHei"/>
              </a:rPr>
              <a:t>步骤 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952500"/>
            <a:ext cx="2413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选定工程单位制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00" y="1358900"/>
            <a:ext cx="3302000" cy="120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 Options -&gt; Preferences 中克隆并定制单位制，统一设定压力为 kPa、温度为 ℃、流量为 Nm³/h。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5000" y="2679700"/>
            <a:ext cx="3302000" cy="6096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【推荐设置】基于 SI 衍生工程单位制，统一压力为 kPa、流量为 Nm³/h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977900"/>
            <a:ext cx="825500" cy="304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D97706"/>
                </a:solidFill>
                <a:latin typeface="Microsoft YaHei"/>
                <a:ea typeface="Microsoft YaHei"/>
              </a:rPr>
              <a:t>步骤 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6700" y="952500"/>
            <a:ext cx="2413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添加物流 (快捷键 F11)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358900"/>
            <a:ext cx="3302000" cy="120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 PFD 画布中放置进料物流，输入温度、压力、总流率及组分组成；当指定足够自由度后，HYSYS 自动执行闪蒸计算并转为深蓝色。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679700"/>
            <a:ext cx="3302000" cy="6096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【快捷键 F11】输入 T、P、摩尔组成后，物流颜色由浅蓝自动变为深蓝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0400" y="3746500"/>
            <a:ext cx="825500" cy="304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D97706"/>
                </a:solidFill>
                <a:latin typeface="Microsoft YaHei"/>
                <a:ea typeface="Microsoft YaHei"/>
              </a:rPr>
              <a:t>步骤 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3721100"/>
            <a:ext cx="2413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添加单元操作 (快捷键 F12)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400" y="4127500"/>
            <a:ext cx="3302000" cy="120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从模型面板（Palette）拖入压缩机、换热器、分离器、反应器或精馏塔等单元操作模块，并双击打开属性面板配置边界条件。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400" y="5448300"/>
            <a:ext cx="3302000" cy="6096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【快捷键 F12】调出 Object Palette 快捷面板，拖拽放置目标单元操作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26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45000" y="3746500"/>
            <a:ext cx="825500" cy="304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16A34A"/>
                </a:solidFill>
                <a:latin typeface="Microsoft YaHei"/>
                <a:ea typeface="Microsoft YaHei"/>
              </a:rPr>
              <a:t>步骤 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100" y="3721100"/>
            <a:ext cx="2413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拓扑连接与参数设定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5000" y="4127500"/>
            <a:ext cx="3302000" cy="120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在模块 Connections 选项卡中连接进出口物流与能流，在 Design 选项卡中输入压降、效率或设备热负荷，完成自由度闭合。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5000" y="5448300"/>
            <a:ext cx="3302000" cy="6096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【自由度原则】连接进出口物流与能流，逐一指定设备操作参数完成闭环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72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29600" y="3746500"/>
            <a:ext cx="825500" cy="304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16A34A"/>
                </a:solidFill>
                <a:latin typeface="Microsoft YaHei"/>
                <a:ea typeface="Microsoft YaHei"/>
              </a:rPr>
              <a:t>步骤 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6700" y="3721100"/>
            <a:ext cx="2413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求解分析与结果校核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127500"/>
            <a:ext cx="3302000" cy="120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观察底部状态栏显示绿色 OK；利用 Workbook 工作簿与 Case Studies 工具深度校核物料与能量平衡。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448300"/>
            <a:ext cx="3302000" cy="6096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【收敛核验】利用 Workbook 验证全局质量与热量平衡，排查全流程未收敛节点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案例一：轻烃加压分离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1.3.2 实训案例一：轻烃混合物加压冷却与分离工况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12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397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016500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284C7"/>
                </a:solidFill>
                <a:latin typeface="Microsoft YaHei"/>
                <a:ea typeface="Microsoft YaHei"/>
              </a:rPr>
              <a:t>原料物流工艺条件 (Feed Stream)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物流名称：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Stream 1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摩尔流率：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45.36 kmol/h (100.0 lbmol/hr)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进料温度：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10.0 ℃ (50.0 ℉)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进料压力：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101.325 kPa (常压，14.7 psia)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物性方程：</a:t>
            </a:r>
            <a:r>
              <a:rPr sz="1100" b="0" i="0">
                <a:solidFill>
                  <a:srgbClr val="1E293B"/>
                </a:solidFill>
                <a:latin typeface="Microsoft YaHei"/>
                <a:ea typeface="Microsoft YaHei"/>
              </a:rPr>
              <a:t>Peng-Robinson (PR 状态方程)</a:t>
            </a:r>
          </a:p>
          <a:p>
            <a:pPr>
              <a:spcBef>
                <a:spcPts val="1000"/>
              </a:spcBef>
            </a:pPr>
            <a:r>
              <a:rPr sz="1150" b="1" i="0">
                <a:solidFill>
                  <a:srgbClr val="0284C7"/>
                </a:solidFill>
                <a:latin typeface="Microsoft YaHei"/>
                <a:ea typeface="Microsoft YaHei"/>
              </a:rPr>
              <a:t>原料组成（摩尔分数）：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  - 乙烷 (Ethane, C₂H₆)：</a:t>
            </a:r>
            <a:r>
              <a:rPr sz="1050" b="1" i="0">
                <a:solidFill>
                  <a:srgbClr val="D97706"/>
                </a:solidFill>
                <a:latin typeface="Calibri"/>
                <a:ea typeface="Calibri"/>
              </a:rPr>
              <a:t>15.0 mol% (0.1500)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  - 丙烷 (Propane, C₃H₈)：</a:t>
            </a:r>
            <a:r>
              <a:rPr sz="1050" b="1" i="0">
                <a:solidFill>
                  <a:srgbClr val="D97706"/>
                </a:solidFill>
                <a:latin typeface="Calibri"/>
                <a:ea typeface="Calibri"/>
              </a:rPr>
              <a:t>20.0 mol% (0.2000)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  - 异丁烷 (i-Butane, i-C₄H₁₀)：</a:t>
            </a:r>
            <a:r>
              <a:rPr sz="1050" b="1" i="0">
                <a:solidFill>
                  <a:srgbClr val="D97706"/>
                </a:solidFill>
                <a:latin typeface="Calibri"/>
                <a:ea typeface="Calibri"/>
              </a:rPr>
              <a:t>60.0 mol% (0.6000)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  - 正丁烷 (n-Butane, n-C₄H₁₀)：</a:t>
            </a:r>
            <a:r>
              <a:rPr sz="1050" b="1" i="0">
                <a:solidFill>
                  <a:srgbClr val="D97706"/>
                </a:solidFill>
                <a:latin typeface="Calibri"/>
                <a:ea typeface="Calibri"/>
              </a:rPr>
              <a:t>5.0 mol% (0.0500)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4889500"/>
            <a:ext cx="5016500" cy="1206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0284C7"/>
                </a:solidFill>
                <a:latin typeface="Microsoft YaHei"/>
                <a:ea typeface="Microsoft YaHei"/>
              </a:rPr>
              <a:t>【热力学特性】 </a:t>
            </a:r>
            <a:r>
              <a:rPr sz="930" b="0" i="0">
                <a:solidFill>
                  <a:srgbClr val="1E293B"/>
                </a:solidFill>
                <a:latin typeface="Microsoft YaHei"/>
                <a:ea typeface="Microsoft YaHei"/>
              </a:rPr>
              <a:t>原料混合轻烃在 10 ℃、常压下完全处于过热气体单相区（干度 VF = 1.0000），为后续绝热增压与降温冷凝创造了典型两相分离工况。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825500"/>
            <a:ext cx="5397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0" y="952500"/>
            <a:ext cx="5016500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0284C7"/>
                </a:solidFill>
                <a:latin typeface="Microsoft YaHei"/>
                <a:ea typeface="Microsoft YaHei"/>
              </a:rPr>
              <a:t>处理工艺流程与求解目标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单元一：压缩机加压：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将常压原料 Stream 1 绝热压缩至 344.7 kPa (50 psia)，产生高温物流 2，能流 Q-100 供功。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单元二：冷却器降温：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物流 2 经冷却器 E-100（压降 ΔP = 0 kPa）冷却至 0.0 ℃ (32 ℉)，放热能流为 Q-101。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单元三：气液分离器：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两相混合物物流 3 进入立式重力分离器 V-100，在 0 ℃、344.7 kPa 下进行闪蒸相平衡分相。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考核求解目标：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求分离器顶部气相产品（Vapor）与底部液相产品（Liquid）的摩尔流率及各烃类组分摩尔浓度。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7000" y="4889500"/>
            <a:ext cx="5016500" cy="12065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D97706"/>
                </a:solidFill>
                <a:latin typeface="Microsoft YaHei"/>
                <a:ea typeface="Microsoft YaHei"/>
              </a:rPr>
              <a:t>【实训教学目标】 </a:t>
            </a:r>
            <a:r>
              <a:rPr sz="930" b="0" i="0">
                <a:solidFill>
                  <a:srgbClr val="1E293B"/>
                </a:solidFill>
                <a:latin typeface="Microsoft YaHei"/>
                <a:ea typeface="Microsoft YaHei"/>
              </a:rPr>
              <a:t>掌握“进料闪蒸 -&gt; 压缩机功耗求解 -&gt; 换热器负荷核算 -&gt; 重力分相”四单元完整建模链路，体会物性包在气液平衡分离中的决定性作用。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案例一：轻烃加压分离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步骤①②：组分列表定义与 Peng-Robinson 物性包指定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13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461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080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</a:rPr>
              <a:t>① 添加模拟组分 (Component List)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在 Properties 环境点击 Component Lists -&gt; Add，通过名称搜索依次加入 Ethane、Propane、i-Butane、n-Butane 4 种纯组分。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450" y="2595033"/>
            <a:ext cx="5118100" cy="28109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614083"/>
            <a:ext cx="5080000" cy="27728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23000" y="825500"/>
            <a:ext cx="5461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3500" y="952500"/>
            <a:ext cx="5080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</a:rPr>
              <a:t>② 添加流体包与交互参数 (Fluid Package)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 Fluid Packages 中选择 Peng-Robinson 方程；系统根据数据库自动载入 4 组分两两之间的二元交互参数矩阵。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4450" y="2050257"/>
            <a:ext cx="2514600" cy="28844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2069307"/>
            <a:ext cx="2476500" cy="28463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061450" y="1951879"/>
            <a:ext cx="2451100" cy="12397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00" y="1970929"/>
            <a:ext cx="2413000" cy="120164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080500" y="3429000"/>
            <a:ext cx="2413000" cy="1714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1" i="0">
                <a:solidFill>
                  <a:srgbClr val="0284C7"/>
                </a:solidFill>
                <a:latin typeface="Microsoft YaHei"/>
                <a:ea typeface="Microsoft YaHei"/>
              </a:rPr>
              <a:t>【二元参数 kij】 </a:t>
            </a: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PR 方程自动载入标准数据库中烃类二元相互作用系数（kij 均在 0.001~0.004 区间），确保轻烃混合物深冷相平衡预测精度。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3500" y="5270500"/>
            <a:ext cx="5080000" cy="825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1" i="0">
                <a:solidFill>
                  <a:srgbClr val="0284C7"/>
                </a:solidFill>
                <a:latin typeface="Microsoft YaHei"/>
                <a:ea typeface="Microsoft YaHei"/>
              </a:rPr>
              <a:t>【物性收敛确认】 </a:t>
            </a: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当组分与物性包关联成功后，底部状态栏显示绿色 OK，表明热力学基础建立完毕，即可点击 Simulation 按钮进入流程拓扑画布。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案例一：轻烃加压分离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步骤③：安装原料物流并指定相平衡状态参数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14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4318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3937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物流定义规范与快捷方式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放置物流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按 F11 快捷键或从模型面板（Palette）拖入蓝色物质流箭头至 PFD 画布，双击重命名为 1。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指定组分浓度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点击 Composition 选项卡 -&gt; 点击 Edit，选择 Mole Fractions（摩尔分数基准），依次输入：
• 乙烷: 0.15
• 丙烷: 0.20
• 异丁烷: 0.60
• 正丁烷: 0.05
点击 Normalize 归一化后确定。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指定温度与压力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切换至 Conditions 选项卡，输入：
• 温度：10.0 ℃
• 压力：101.3 kPa
• 摩尔流率：45.36 kmol/h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求解收敛提示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参数输毕后物流颜色由浅蓝转为深蓝，底部状态条显示绿色 OK，标志相平衡闪蒸计算完全闭合。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0950" y="1163160"/>
            <a:ext cx="3213100" cy="19281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182210"/>
            <a:ext cx="3175000" cy="189007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87957" y="806450"/>
            <a:ext cx="3153585" cy="264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007" y="825500"/>
            <a:ext cx="3115485" cy="260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766689" y="3536950"/>
            <a:ext cx="3230620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39" y="3556000"/>
            <a:ext cx="3192520" cy="2730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案例一：轻烃加压分离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核心热力学机制：进料物流自适应闪蒸计算原理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15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397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0165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吉布斯相律与闪蒸自由度规则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相律依据：</a:t>
            </a: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对已知组成的 N 元体系，确定其完全热力学平衡相态所需的独立自由度为 2（在给定组成的情况下）。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T-P 闪蒸（最常见）：</a:t>
            </a: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同时给定体系温度 T 和压力 P。HYSYS 自动迭代求解泡点与露点，判断体系处于过冷液相、气液共存还是过热气相，并计算相分率 VF。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VF-P 闪蒸（相变临界）：</a:t>
            </a: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给定体系压力 P 与气相分率 VF（VF=0 求解泡点压力/温度；VF=1 求解露点压力/温度）。在制冷与蒸发器模拟中极常用。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VF-T 闪蒸（定温蒸发）：</a:t>
            </a: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给定体系温度 T 与气相分率 VF，反推对应的相平衡压力。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自动求解特性：</a:t>
            </a: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一旦给定任意 2 个独立热力学参数，HYSYS 即刻在后台完成焓（H）、熵（S）及密度的全面求解。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5270500"/>
            <a:ext cx="5016500" cy="863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1" i="0">
                <a:solidFill>
                  <a:srgbClr val="0284C7"/>
                </a:solidFill>
                <a:latin typeface="Microsoft YaHei"/>
                <a:ea typeface="Microsoft YaHei"/>
              </a:rPr>
              <a:t>【自由度准则 (F=C-P+2)】 </a:t>
            </a:r>
            <a:r>
              <a:rPr sz="919" b="0" i="0">
                <a:solidFill>
                  <a:srgbClr val="64748B"/>
                </a:solidFill>
                <a:latin typeface="Microsoft YaHei"/>
                <a:ea typeface="Microsoft YaHei"/>
              </a:rPr>
              <a:t>在组成固定的流体中，指定任意两个独立强度性质（如 T 与 P、或 P 与 VF），系统的热力学状态即完全单值确定，无需额外假设。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825500"/>
            <a:ext cx="5397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0" y="952500"/>
            <a:ext cx="50165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</a:rPr>
              <a:t>物流 1 闪蒸求解输出结果核验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3104" y="1504950"/>
            <a:ext cx="4344290" cy="3721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154" y="1524000"/>
            <a:ext cx="4306190" cy="3683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77000" y="5334000"/>
            <a:ext cx="5016500" cy="8255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284C7"/>
                </a:solidFill>
                <a:latin typeface="Microsoft YaHei"/>
                <a:ea typeface="Microsoft YaHei"/>
              </a:rPr>
              <a:t>【闪蒸结果】在 10 ℃、101.3 kPa 下，混合轻烃完全处于过热气体单相区（VF = 1.0000），摩尔焓为 -1.220×10⁵ kJ/kgmole，自由度消耗完毕，求解闭合！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案例一：轻烃加压分离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步骤④：添加压缩机 K-100 并设定排气压力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16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4318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3937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压缩机模块操作与自由度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放置模块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按 F12 快捷键或从 Palette 中选择 Compressor 拖入画布，命名为 K-100。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连接管路与能流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 Connections 界面：
• Inlet（进口）：连接物流 1
• Outlet（出口）：键入物流 2
• Energy（能流）：键入能流 Q-100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设定关键设计参数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双击物流 2 或在压缩机 Worksheet 选项卡中，输入物流 2 的出口压力 P = 344.7 kPa。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求解收敛过程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系统根据物流 1 状态与 344.7 kPa 排压，结合默认多变/绝热效率（75%），自动计算出：
• 物流 2 温度升至约 57.69 ℃
• 压缩机功耗 Q-100 自动闭合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36562" y="806450"/>
            <a:ext cx="5290875" cy="264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612" y="825500"/>
            <a:ext cx="5252775" cy="26035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60950" y="3670774"/>
            <a:ext cx="3213100" cy="2500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3689824"/>
            <a:ext cx="3175000" cy="24628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26450" y="3674190"/>
            <a:ext cx="3276600" cy="24941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00" y="3693240"/>
            <a:ext cx="3238500" cy="24560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案例一：轻烃加压分离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步骤④：添加冷却器 E-100 进行降温冷凝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17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4318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3937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冷却器模块参数配置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放置模块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从 Palette 拖入 Cooler 模块，重命名为 E-100。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连接物流与能流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 Connections 界面：
• Inlet：连接物流 2
• Outlet：键入物流 3
• Energy：键入能流 Q-101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设定流阻压降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 Design -&gt; Parameters 界面中，设定管程压降 ΔP = 0.0 kPa（忽略阻力）。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设定出口温度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 Worksheet 选项卡中，输入出口物流 3 的温度为 0.0 ℃。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求解收敛状态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冷却器变为黑色，物流 3 变为深蓝色。在 0 ℃、344.7 kPa 下，物流 3 气相分率降为 0.2335，部分烃类凝结为液态！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1720" y="806450"/>
            <a:ext cx="4860558" cy="2324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770" y="825500"/>
            <a:ext cx="4822458" cy="2286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60950" y="3767066"/>
            <a:ext cx="3276600" cy="20543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3786116"/>
            <a:ext cx="3238500" cy="20162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26450" y="3767066"/>
            <a:ext cx="3276600" cy="20543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00" y="3786116"/>
            <a:ext cx="3238500" cy="20162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案例一：轻烃加压分离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步骤④⑤：气液分离器 V-100 安装与全流程计算收敛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18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461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080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</a:rPr>
              <a:t>④ 安装气液两相分离器 V-100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从 Palette 拖入 Separator 模块：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Inlet: 连接两相物流 3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Vapour Outlet: 键入 Vapor (气相产品)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Liquid Outlet: 键入 Liquid (液相产品)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450" y="3260784"/>
            <a:ext cx="5118100" cy="2050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3279834"/>
            <a:ext cx="5080000" cy="201283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23000" y="825500"/>
            <a:ext cx="5461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3500" y="952500"/>
            <a:ext cx="5080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</a:rPr>
              <a:t>⑤ 全流程自动收敛与状态判定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连接完成后，分离器无外部自由度需求，HYSYS 即刻完成重力沉降闪蒸分离；底端绿色条显示 OK，全流程求解全部收敛！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4450" y="3039604"/>
            <a:ext cx="5118100" cy="24932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3058654"/>
            <a:ext cx="5080000" cy="24551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案例一：轻烃加压分离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步骤⑥⑦：相平衡分离结果核验与全局数据工作簿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19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461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08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</a:rPr>
              <a:t>⑥ 查看分离器 V-100 计算结果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气相产品 (Vapor)：流率 10.59 kmol/h (占比 23.35%)，轻组分显著富集（乙烷 40.26 mol%，丙烷 24.79 mol%）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液相产品 (Liquid)：流率 34.77 kmol/h (占比 76.65%)，重组分显著富集（异丁烷 68.23 mol%，正丁烷 5.93 mol%）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450" y="2523464"/>
            <a:ext cx="5118100" cy="11760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542514"/>
            <a:ext cx="5080000" cy="113797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9450" y="4605695"/>
            <a:ext cx="5118100" cy="10756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624745"/>
            <a:ext cx="5080000" cy="103750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23000" y="825500"/>
            <a:ext cx="5461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3500" y="952500"/>
            <a:ext cx="5080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</a:rPr>
              <a:t>⑦ 查看工作簿 (Workbook) 全局平衡</a:t>
            </a:r>
          </a:p>
          <a:p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在工作簿中横向对比 1、2、3、Vapor、Liquid 所有物流，验证总质量流率守恒（2318 kg/h）与能量平衡闭环。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4450" y="1987459"/>
            <a:ext cx="5118100" cy="39625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2006509"/>
            <a:ext cx="5080000" cy="392448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案例二：丙烷循环制冷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1.3.3 实训案例二：闭式丙烷机械压缩蒸气制冷循环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20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4826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1016000"/>
            <a:ext cx="4445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蒸气压缩制冷循环热力学原理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循环工质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纯丙烷（Propane, C₃H₈），物性包采用 Peng-Robinson 状态方程。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1 -&gt; 2 绝热节流降温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中温高压液态丙烷（50 ℃，泡点 VF=0）经过节流阀（J-T 阀）发生等焓节流，压力骤降并闪蒸降温至 -19.35 ℃。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2 -&gt; 3 定压吸热制冷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低温低压两相工质在蒸发器（Chiller）中吸收被冷却介质热量（1.0×10⁶ kJ/h），完全汽化为干饱和蒸气（-20 ℃，VF=1）。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3 -&gt; 4 绝热升压压缩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低压丙烷蒸气进入压缩机（Compressor，效率 75%）加压升温至 1755 kPa、72.8 ℃ 过热蒸气。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4 -&gt; 1 定压放热冷凝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过热蒸气在水冷/风冷冷凝器（Condenser）中向环境介质放热冷凝，重新回到 50 ℃ 液相，闭合循环。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5450" y="1997075"/>
            <a:ext cx="6197600" cy="3117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2016125"/>
            <a:ext cx="6159500" cy="3079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案例二：丙烷循环制冷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案例二：四大核心设备规格与物流状态设定表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21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77900"/>
            <a:ext cx="406400" cy="304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9525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节流阀 J-T Valve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1333500"/>
            <a:ext cx="5143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入口物流：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物流 1：50.0 ℃，泡点液相 (VF = 0.0)，纯丙烷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出口物流：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物流 2：两相闪蒸混合物，压力 251.2 kPa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操作特性：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等焓节流膨胀过程，依靠焦-汤效应降温制冷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仿真结果：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等焓闪蒸产汽率 VF = 0.4740，相平衡降温至 -19.35 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806700"/>
            <a:ext cx="5156200" cy="508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【热力学机理】H1 = H2（等焓过程），压力骤降产生 47.4% 汽化率并吸收相变潜热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8255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5400" y="977900"/>
            <a:ext cx="406400" cy="304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9525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蒸发器 Chiller (Heater)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400" y="1333500"/>
            <a:ext cx="5143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入口/出口：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进口物流 2 -&gt; 出口物流 3 (-20.0 ℃，干饱和蒸气 VF = 1.0)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流阻压降：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管程阻力 ΔP = 7.0 kPa (出口压力 244.2 kPa)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能流负荷：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Chill-Q：输入制冷热负荷 1.000 × 10⁶ kJ/h (约 277.8 kW)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仿真结果：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根据 1.0×10⁶ kJ/h 制冷负荷，反算出循环工质流率 107.9 kmol/h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5400" y="2806700"/>
            <a:ext cx="5156200" cy="508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【传热核算】工质吸收 1.0×10⁶ kJ/h 热量汽化为干饱和蒸气，为外接系统提供冷量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5941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0400" y="3746500"/>
            <a:ext cx="406400" cy="304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211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压缩机 Compressor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" y="4102100"/>
            <a:ext cx="5143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入口/出口：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进口物流 3 -&gt; 出口物流 4 (过热蒸气，排气温度 72.8 ℃)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效率参数：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绝热效率 Adiabatic Efficiency = 75.0%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能流功耗：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Comp Duty：由系统自动反算出所需轴功率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仿真结果：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绝热压缩至 1755 kPa，排气温度 72.8 ℃，轴功耗 97.4 kW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400" y="5575300"/>
            <a:ext cx="5156200" cy="508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【功耗求解】压缩机吸入 -20 ℃ 低压气，轴功率由系统根据 75% 绝热效率严谨求解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000" y="35941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75400" y="3746500"/>
            <a:ext cx="406400" cy="30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7211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冷凝器 Condenser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5400" y="4102100"/>
            <a:ext cx="5143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入口/出口：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进口物流 4 -&gt; 出口物流 1 (返回节流阀进口，实现闭式闭环)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流阻压降：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管程阻力 ΔP = 35.0 kPa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能流冷负荷：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Cond-Q：向环境冷源排放冷凝热量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仿真结果：</a:t>
            </a: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冷凝器放热负荷 Cond-Q 自动平衡，物流 1 参数与起点吻合闭环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5400" y="5575300"/>
            <a:ext cx="5156200" cy="5080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【闭环条件】放热冷凝至饱和液相，物流 1 参数与循环起点完全吻合，全流程闭环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第一篇 · 案例二：丙烷循环制冷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案例二：仿真收敛结果分析与循环能效评估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22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839" y="806450"/>
            <a:ext cx="4319321" cy="264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89" y="825500"/>
            <a:ext cx="4281221" cy="26035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23000" y="8255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3500" y="952500"/>
            <a:ext cx="50800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</a:rPr>
              <a:t>循环关键状态与能效指标校核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• 循环制冷工质流率：</a:t>
            </a:r>
            <a:r>
              <a:rPr sz="1100" b="1" i="0">
                <a:solidFill>
                  <a:srgbClr val="D97706"/>
                </a:solidFill>
                <a:latin typeface="Calibri"/>
                <a:ea typeface="Calibri"/>
              </a:rPr>
              <a:t>107.9 kmol/h (4758 kg/h)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• 节流后两相分率：</a:t>
            </a:r>
            <a:r>
              <a:rPr sz="1100" b="1" i="0">
                <a:solidFill>
                  <a:srgbClr val="D97706"/>
                </a:solidFill>
                <a:latin typeface="Calibri"/>
                <a:ea typeface="Calibri"/>
              </a:rPr>
              <a:t>VF = 0.4740 (闪蒸产汽率 47.4%)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• 压缩机排气状态：</a:t>
            </a:r>
            <a:r>
              <a:rPr sz="1100" b="1" i="0">
                <a:solidFill>
                  <a:srgbClr val="D97706"/>
                </a:solidFill>
                <a:latin typeface="Calibri"/>
                <a:ea typeface="Calibri"/>
              </a:rPr>
              <a:t>排压 1755 kPa，排温 72.81 ℃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• 制冷性能系数 COP：</a:t>
            </a:r>
            <a:r>
              <a:rPr sz="1100" b="1" i="0">
                <a:solidFill>
                  <a:srgbClr val="D97706"/>
                </a:solidFill>
                <a:latin typeface="Calibri"/>
                <a:ea typeface="Calibri"/>
              </a:rPr>
              <a:t>COP = Q_chiller / W_comp ≈ 2.85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3500" y="2603500"/>
            <a:ext cx="5080000" cy="698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1" i="0">
                <a:solidFill>
                  <a:srgbClr val="0284C7"/>
                </a:solidFill>
                <a:latin typeface="Microsoft YaHei"/>
                <a:ea typeface="Microsoft YaHei"/>
              </a:rPr>
              <a:t>【工程能效评价】 </a:t>
            </a: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制冷性能系数 COP 达到 2.85，压缩机轴功率 97.4 kW，全系统质量与能量平衡严密闭环，展现出闭式制冷循环的高效节能特性。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6302" y="3600450"/>
            <a:ext cx="6939395" cy="270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352" y="3619500"/>
            <a:ext cx="6901295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6000" y="1778000"/>
            <a:ext cx="1778000" cy="355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D2D3"/>
                </a:solidFill>
                <a:latin typeface="Microsoft YaHei"/>
                <a:ea typeface="Microsoft YaHei"/>
              </a:rPr>
              <a:t>第二篇 · 模块导读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349500"/>
            <a:ext cx="10160000" cy="88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Microsoft YaHei"/>
                <a:ea typeface="Microsoft YaHei"/>
              </a:rPr>
              <a:t>工业级低温空分课程设计任务与参数计算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302000"/>
            <a:ext cx="1016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 i="0">
                <a:solidFill>
                  <a:srgbClr val="38BDF8"/>
                </a:solidFill>
                <a:latin typeface="Microsoft YaHei"/>
                <a:ea typeface="Microsoft YaHei"/>
              </a:rPr>
              <a:t>将过程模拟技术深度应用于现代深冷工程实践，掌握全低压双塔空气分离系统工艺计算、压力链反推与全装置冷平衡手算。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6000" y="4254500"/>
            <a:ext cx="3238500" cy="13335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6500" y="4381500"/>
            <a:ext cx="28575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2.1 任务与指标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明确 15,000 Nm³/h 氧气设计指标、考核提取率与国家标准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8500" y="4254500"/>
            <a:ext cx="3238500" cy="13335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9000" y="4381500"/>
            <a:ext cx="28575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2.2 流程与手算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解析双塔流程拓扑，逆推工作压力网络与膨胀机制冷量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254500"/>
            <a:ext cx="3238500" cy="13335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1500" y="4381500"/>
            <a:ext cx="28575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D2D3"/>
                </a:solidFill>
                <a:latin typeface="Microsoft YaHei"/>
                <a:ea typeface="Microsoft YaHei"/>
              </a:rPr>
              <a:t>2.3 建模与交付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F8FAFC"/>
                </a:solidFill>
                <a:latin typeface="Microsoft YaHei"/>
                <a:ea typeface="Microsoft YaHei"/>
              </a:rPr>
              <a:t>掌握深冷精馏求解收敛核心规范，按标准输出全套工程文档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低温空分课程设计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2.1.1 空分流程课程设计核心目的与工程能力培养矩阵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24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77900"/>
            <a:ext cx="406400" cy="304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9525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全流程工程设计体验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1333500"/>
            <a:ext cx="5143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初步了解并掌握空气分离设备全流程设计的工艺步骤与逻辑闭环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熟悉现代化工与深冷工程计算机辅助设计（CAD/CAE）的通用方法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建立全系统物料守恒、热量守恒与有效能（Exergy）优化意识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强化工程系统观：跨越单单元界区，关注系统能量综合利用与能耗指标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806700"/>
            <a:ext cx="5156200" cy="508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【能力基线】建立物料、热量与压力网络闭环意识，完成系统级概念设计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8255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5400" y="977900"/>
            <a:ext cx="406400" cy="304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9525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深冷专业技能综合训练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400" y="1333500"/>
            <a:ext cx="5143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深入进行与制冷及低温工程专业相关的核心基本工程技能实操训练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初步接受大型工业深冷装置（ASU）系统级工程设计的系统熏陶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掌握流体流动阻力估算、深冷换热器热端温差与传热夹点控制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突破核心计算：精馏塔压力网络推导、设备保冷漏热与冷平衡手算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5400" y="2806700"/>
            <a:ext cx="5156200" cy="508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【核心技能】掌握低温传热、塔板阻力降与透平膨胀机制冷量精准估算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5941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0400" y="3746500"/>
            <a:ext cx="406400" cy="304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211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跨学科知识深化与融合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" y="4102100"/>
            <a:ext cx="5143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综合深化化工原理、工程热力学、低温技术与精馏理论基础知识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通过对精馏塔内相态、温度、组分分布曲线的解耦分析，培养工程思维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打通“理论手算推导 -&gt; 流程软件模拟 -&gt; 工况敏感性调优”三位一体路径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严谨理论验证：利用手算数据校核计算机模拟，杜绝“黑箱”盲目试凑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400" y="5575300"/>
            <a:ext cx="5156200" cy="508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【复合思维】实现“理论手算-流程仿真-参数优化”深度融合与交叉验证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000" y="3594100"/>
            <a:ext cx="54610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75400" y="3746500"/>
            <a:ext cx="406400" cy="30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721100"/>
            <a:ext cx="457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</a:rPr>
              <a:t>高度的工程规范与责任感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5400" y="4102100"/>
            <a:ext cx="5143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严格遵循国家与机械行业标准（如 JB/T 7672）开展工艺与图纸设计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树立工业空分装置安全（防止液氧烃类积聚）、高效、节能的工程责任感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培养严谨、踏实、具备现代工程师素养的技术作风与团队协作意识</a:t>
            </a:r>
          </a:p>
          <a:p>
            <a:pPr>
              <a:lnSpc>
                <a:spcPct val="115000"/>
              </a:lnSpc>
              <a:spcBef>
                <a:spcPts val="25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严守交付规范：规范编制符合工业标准的设计说明书、CAD 图纸与工程文件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5400" y="5575300"/>
            <a:ext cx="5156200" cy="5080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【素养进阶】贯彻防爆安全红线（总烃/乙炔控制）与工程图纸设计规范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低温空分课程设计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2.1.2 工业级空分装置产品考核指标与设计任务书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25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6096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715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主要产品规格与产率考核指标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1524000"/>
            <a:ext cx="5715000" cy="78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500" y="1587500"/>
            <a:ext cx="5461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</a:rPr>
              <a:t>气氧 (GO₂)</a:t>
            </a:r>
            <a:r>
              <a:rPr sz="1150" b="1" i="0">
                <a:solidFill>
                  <a:srgbClr val="0F172A"/>
                </a:solidFill>
                <a:latin typeface="Calibri"/>
                <a:ea typeface="Calibri"/>
              </a:rPr>
              <a:t>  流量：15,000 Nm³/h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纯度：≥ 99.6% O₂  |  说明：主要产品，工业氧气管网供气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500" y="2413000"/>
            <a:ext cx="5715000" cy="78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500" y="2476500"/>
            <a:ext cx="5461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</a:rPr>
              <a:t>液氧 (LO₂)</a:t>
            </a:r>
            <a:r>
              <a:rPr sz="1150" b="1" i="0">
                <a:solidFill>
                  <a:srgbClr val="0F172A"/>
                </a:solidFill>
                <a:latin typeface="Calibri"/>
                <a:ea typeface="Calibri"/>
              </a:rPr>
              <a:t>  流量：80 Nm³/h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纯度：≥ 99.6% O₂  |  说明：低温液体副产品，储槽外输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500" y="3302000"/>
            <a:ext cx="5715000" cy="787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500" y="3365500"/>
            <a:ext cx="5461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D97706"/>
                </a:solidFill>
                <a:latin typeface="Microsoft YaHei"/>
                <a:ea typeface="Microsoft YaHei"/>
              </a:rPr>
              <a:t>氧提取率 (η_O₂)</a:t>
            </a:r>
            <a:r>
              <a:rPr sz="1150" b="1" i="0">
                <a:solidFill>
                  <a:srgbClr val="0F172A"/>
                </a:solidFill>
                <a:latin typeface="Calibri"/>
                <a:ea typeface="Calibri"/>
              </a:rPr>
              <a:t>  指标：≥ 97.0%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纯度：极限回收率  |  说明：关键性能考核指标，严禁跑冷跑氧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500" y="4191000"/>
            <a:ext cx="5715000" cy="78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500" y="4254500"/>
            <a:ext cx="5461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</a:rPr>
              <a:t>纯氮气 (GN₂)</a:t>
            </a:r>
            <a:r>
              <a:rPr sz="1150" b="1" i="0">
                <a:solidFill>
                  <a:srgbClr val="0F172A"/>
                </a:solidFill>
                <a:latin typeface="Calibri"/>
                <a:ea typeface="Calibri"/>
              </a:rPr>
              <a:t>  流量：10,000 Nm³/h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纯度：O₂ ≤ 5×10⁻⁶ (5 ppm)  |  说明：高纯氮气管网供气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500" y="5080000"/>
            <a:ext cx="5715000" cy="78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500" y="5143500"/>
            <a:ext cx="5461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</a:rPr>
              <a:t>液氮 (LN₂)</a:t>
            </a:r>
            <a:r>
              <a:rPr sz="1150" b="1" i="0">
                <a:solidFill>
                  <a:srgbClr val="0F172A"/>
                </a:solidFill>
                <a:latin typeface="Calibri"/>
                <a:ea typeface="Calibri"/>
              </a:rPr>
              <a:t>  流量：150 Nm³/h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纯度：O₂ ≤ 5×10⁻⁶ (5 ppm)  |  说明：高纯低温液态氮产品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825500"/>
            <a:ext cx="4826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8500" y="952500"/>
            <a:ext cx="4445000" cy="393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课程设计核心任务五大要求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1. 确定流程形式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选定全低压双塔精馏、分子筛常温净化、返流膨胀制冷流程。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2. 手算基础参数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严格计算加工空气量、各塔工作压力、塔内温度及膨胀空气量。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3. HYSYS 流程模拟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建立全流程仿真模型，调试收敛双塔精馏子流程与主冷系统。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4. 流程优化分析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分析膨胀比、主冷温差、抽馏分位置对氧产率和能耗的影响。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5. 编制说明书与出图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编制严谨计算说明书（附温度/组分沿塔板分布曲线），绘制 A1 流程图。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8500" y="5016500"/>
            <a:ext cx="4445000" cy="1079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1" i="0">
                <a:solidFill>
                  <a:srgbClr val="0284C7"/>
                </a:solidFill>
                <a:latin typeface="Microsoft YaHei"/>
                <a:ea typeface="Microsoft YaHei"/>
              </a:rPr>
              <a:t>【设计成果验收要求】 </a:t>
            </a: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理论手算数据必须与 HYSYS 稳态模拟结果深度闭环校验；关键流路压力、温差与冷量相对偏差应严格控制在工程合理允许范围内。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低温空分课程设计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2.1.3 国家行业标准与核心参考专著文献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26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5397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5016500" cy="38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推荐参考教材与设计专著</a:t>
            </a:r>
          </a:p>
          <a:p>
            <a:pPr>
              <a:spcBef>
                <a:spcPts val="7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📖 《现代空分设备技术与操作原理》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毛绍融，朱朔元，周智勇 主编，杭州出版社，2005。
国内空分工程经典权威专著，详述空分系统热力计算与双塔精馏机理。</a:t>
            </a:r>
          </a:p>
          <a:p>
            <a:pPr>
              <a:spcBef>
                <a:spcPts val="7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📖 《空气分离设备流程课程设计指南》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汤珂 编，浙江大学制冷与低温工程研究所，2012。
高校空分课程设计专用指导讲义，提供第四章说明书编制与手算范式。</a:t>
            </a:r>
          </a:p>
          <a:p>
            <a:pPr>
              <a:spcBef>
                <a:spcPts val="7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📖 《过程模拟实训—Aspen HYSYS 教程》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孙兰义 等主编，中国石化出版社，2015。
化工过程模拟权威实训教材，涵盖热力学方法、单元操作与优化分析。</a:t>
            </a:r>
          </a:p>
          <a:p>
            <a:pPr>
              <a:spcBef>
                <a:spcPts val="7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📖 《低温技术原理与装置（上、下册）》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张祉佑，石秉三，机械工业出版社，1987。
深冷工程理论经典基石，深入讲解低温相平衡与换热器不可逆冷损。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5016500"/>
            <a:ext cx="5016500" cy="1079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1" i="0">
                <a:solidFill>
                  <a:srgbClr val="0284C7"/>
                </a:solidFill>
                <a:latin typeface="Microsoft YaHei"/>
                <a:ea typeface="Microsoft YaHei"/>
              </a:rPr>
              <a:t>【教材选用建议】 </a:t>
            </a: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课程设计手算体系重点参考浙大《空分课程设计指南》，仿真建模与调优技巧紧密结合《过程模拟实训—Aspen HYSYS 教程》开展。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825500"/>
            <a:ext cx="5397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0" y="952500"/>
            <a:ext cx="5016500" cy="38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国家/行业设计标准与技术期刊</a:t>
            </a:r>
          </a:p>
          <a:p>
            <a:pPr>
              <a:spcBef>
                <a:spcPts val="7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⚖ JB/T 7672-95 国家机械行业标准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《空气分离设备流程图图形符号和文字代号》
A1 流程图绘制必须严格遵循的行业国家标准，统一设备与阀门代号。</a:t>
            </a:r>
          </a:p>
          <a:p>
            <a:pPr>
              <a:spcBef>
                <a:spcPts val="7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⚖ 气体分离与液化设备行业标准汇编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机械工业气体分离与液化设备标准化技术委员会，2003。
涵盖透平压缩机、膨胀机、铝制板翅式换热器及冷箱绝热规范。</a:t>
            </a:r>
          </a:p>
          <a:p>
            <a:pPr>
              <a:spcBef>
                <a:spcPts val="7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⚖ 《新编制氧工问答》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汤学忠，顾福民 主编，冶金工业出版社，2001。
现场生产与运行排障指南，提供丰富的工程经验数据与工况调节策略。</a:t>
            </a:r>
          </a:p>
          <a:p>
            <a:pPr>
              <a:spcBef>
                <a:spcPts val="700"/>
              </a:spcBef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</a:rPr>
              <a:t>⚖ 核心期刊：《深冷技术》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全国深冷技术信息网 / 杭州出版社出版。
展示国内外大型深冷空分最新科研突破、节能改造与仿真技术成果。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7000" y="5016500"/>
            <a:ext cx="5016500" cy="10795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1" i="0">
                <a:solidFill>
                  <a:srgbClr val="D97706"/>
                </a:solidFill>
                <a:latin typeface="Microsoft YaHei"/>
                <a:ea typeface="Microsoft YaHei"/>
              </a:rPr>
              <a:t>【工程图纸规范】 </a:t>
            </a: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绘制 A1 空分流程图时，设备代号、控制测量点位、管线流向及文字代号必须与 JB/T 7672-95 保持完全一致，严禁自创图例。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空分流程解析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2.2 典型全低压双塔精馏与返流膨胀空分流程全景架构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27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6720" y="806450"/>
            <a:ext cx="5738558" cy="314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770" y="825500"/>
            <a:ext cx="5700458" cy="31115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8000" y="4064000"/>
            <a:ext cx="3606800" cy="222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000" y="4140200"/>
            <a:ext cx="33528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0284C7"/>
                </a:solidFill>
                <a:latin typeface="Microsoft YaHei"/>
                <a:ea typeface="Microsoft YaHei"/>
              </a:rPr>
              <a:t>1. 原料净化与主换热系统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空气经主空压机（MAC）增压至约 0.61 MPa，经分子筛脱除水、CO₂ 与烃类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进主换热器（LNG-100）与返流低压纯氮、污氮逆流换热，预冷至露点附近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000" y="5613400"/>
            <a:ext cx="3352800" cy="571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【净化核心】分子筛吸附脱除水分与 CO₂，彻底消除低温结霜冻堵风险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600" y="4064000"/>
            <a:ext cx="3606800" cy="222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9600" y="4140200"/>
            <a:ext cx="33528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</a:rPr>
              <a:t>2. 下塔中压与主冷枢纽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下塔（MPC，约 0.56 MPa）初分：塔釜得 38% 富氧液空，塔顶得纯液氮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主冷凝蒸发器（K-V）：下塔顶高压氮蒸气冷凝放热，驱动上塔底液氧沸腾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9600" y="5613400"/>
            <a:ext cx="3352800" cy="5715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【热量枢纽】主冷传热温差控制在 1.5~2.0 ℃，是连接上下塔的热力学核心纽带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064000"/>
            <a:ext cx="3606800" cy="222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4200" y="4140200"/>
            <a:ext cx="33528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16A34A"/>
                </a:solidFill>
                <a:latin typeface="Microsoft YaHei"/>
                <a:ea typeface="Microsoft YaHei"/>
              </a:rPr>
              <a:t>3. 上塔低压精馏与膨胀制冷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上塔（LPC，约 0.14 MPa）精馏：塔顶产出纯氮气，中部抽污氮，底部得纯氧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返流膨胀机制冷：部分空气经膨胀机绝热膨胀产冷，维持全系统低温热平衡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4200" y="5613400"/>
            <a:ext cx="3352800" cy="5715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【制冷枢纽】透平膨胀机制冷量补偿全系统跑冷、热端温差及液体产品焓差损失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精馏设计参数计算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2.3 精馏核心设计参数严格工程手算推导闭环体系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28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2730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65200"/>
            <a:ext cx="2425700" cy="381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284C7"/>
                </a:solidFill>
                <a:latin typeface="Microsoft YaHei"/>
                <a:ea typeface="Microsoft YaHei"/>
              </a:rPr>
              <a:t>阶段一 · 物料平衡手算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397000"/>
            <a:ext cx="2476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依据产品氧（GO₂+LO₂）纯度指标与 97% 提取率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建立全系统氧原子绝对物料守恒闭环方程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反推全装置所需原料加工空气总量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000" y="2921000"/>
            <a:ext cx="2476500" cy="1143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/>
            <a:r>
              <a:rPr sz="900" b="1" i="0">
                <a:solidFill>
                  <a:srgbClr val="0284C7"/>
                </a:solidFill>
                <a:latin typeface="Microsoft YaHei"/>
                <a:ea typeface="Microsoft YaHei"/>
              </a:rPr>
              <a:t>【计算依据与机理】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推导机理：全塔氧原子绝对物料恒算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基准设定：GO₂ 15,000 + LO₂ 80 Nm³/h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提取效率：考核指标 η_O₂ = 97.0%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000" y="4165600"/>
            <a:ext cx="2476500" cy="736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/>
            <a:r>
              <a:rPr sz="880" b="1" i="0">
                <a:solidFill>
                  <a:srgbClr val="64748B"/>
                </a:solidFill>
                <a:latin typeface="Microsoft YaHei"/>
                <a:ea typeface="Microsoft YaHei"/>
              </a:rPr>
              <a:t>推导公式 / 核心链路：</a:t>
            </a:r>
          </a:p>
          <a:p>
            <a:pPr>
              <a:spcBef>
                <a:spcPts val="200"/>
              </a:spcBef>
            </a:pPr>
            <a:r>
              <a:rPr sz="950" b="1" i="0">
                <a:solidFill>
                  <a:srgbClr val="0284C7"/>
                </a:solidFill>
                <a:latin typeface="Calibri"/>
                <a:ea typeface="Calibri"/>
              </a:rPr>
              <a:t>V_air = V_O2,total / (η_O2 · y_O2)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016500"/>
            <a:ext cx="2476500" cy="10795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rtlCol="0" anchor="ctr"/>
          <a:lstStyle/>
          <a:p>
            <a:pPr algn="ctr"/>
            <a:r>
              <a:rPr sz="919" b="1" i="0">
                <a:solidFill>
                  <a:srgbClr val="0284C7"/>
                </a:solidFill>
                <a:latin typeface="Microsoft YaHei"/>
                <a:ea typeface="Microsoft YaHei"/>
              </a:rPr>
              <a:t>阶段核心交付指标：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加工空气量：73,875 Nm³/h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5500" y="825500"/>
            <a:ext cx="2730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17900" y="965200"/>
            <a:ext cx="2425700" cy="38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阶段二 · 压力网络逆向推导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2500" y="1397000"/>
            <a:ext cx="2476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从污氮常压排空背压（0 kPa 余压）逆向反推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沿途推导各换热器阻力、塔板压降与主冷温差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依次确定各塔操作压力与空压机排气压力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2500" y="2921000"/>
            <a:ext cx="2476500" cy="1143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/>
            <a:r>
              <a:rPr sz="900" b="1" i="0">
                <a:solidFill>
                  <a:srgbClr val="D97706"/>
                </a:solidFill>
                <a:latin typeface="Microsoft YaHei"/>
                <a:ea typeface="Microsoft YaHei"/>
              </a:rPr>
              <a:t>【计算依据与机理】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起点基准：排空背压 101.1 kPa(a)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主冷温差：ΔT = 2.0 ℃ (饱和气液相平衡)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水力压降：上塔 6.5 kPa、下塔 4.4 kPa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4165600"/>
            <a:ext cx="2476500" cy="736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/>
            <a:r>
              <a:rPr sz="880" b="1" i="0">
                <a:solidFill>
                  <a:srgbClr val="64748B"/>
                </a:solidFill>
                <a:latin typeface="Microsoft YaHei"/>
                <a:ea typeface="Microsoft YaHei"/>
              </a:rPr>
              <a:t>推导公式 / 核心链路：</a:t>
            </a:r>
          </a:p>
          <a:p>
            <a:pPr>
              <a:spcBef>
                <a:spcPts val="200"/>
              </a:spcBef>
            </a:pPr>
            <a:r>
              <a:rPr sz="950" b="1" i="0">
                <a:solidFill>
                  <a:srgbClr val="D97706"/>
                </a:solidFill>
                <a:latin typeface="Calibri"/>
                <a:ea typeface="Calibri"/>
              </a:rPr>
              <a:t>101.1 -&gt; 135.1 -&gt; 141.6 -&gt; 561.2 -&gt; 607.6 kPa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5016500"/>
            <a:ext cx="2476500" cy="1079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rtlCol="0" anchor="ctr"/>
          <a:lstStyle/>
          <a:p>
            <a:pPr algn="ctr"/>
            <a:r>
              <a:rPr sz="919" b="1" i="0">
                <a:solidFill>
                  <a:srgbClr val="D97706"/>
                </a:solidFill>
                <a:latin typeface="Microsoft YaHei"/>
                <a:ea typeface="Microsoft YaHei"/>
              </a:rPr>
              <a:t>阶段核心交付指标：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空压机排压：607.6 kPa (0.61 MPa)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825500"/>
            <a:ext cx="2730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75400" y="965200"/>
            <a:ext cx="2425700" cy="38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16A34A"/>
                </a:solidFill>
                <a:latin typeface="Microsoft YaHei"/>
                <a:ea typeface="Microsoft YaHei"/>
              </a:rPr>
              <a:t>阶段三 · 绝热保冷漏热分配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1397000"/>
            <a:ext cx="2476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确定空分保冷箱总绝热冷损基准为 30,000 kcal/h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依据设备外表面积与环境温差进行科学加权分配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逐一锁定主换热器、上塔与下塔系统的漏热负荷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0000" y="2921000"/>
            <a:ext cx="2476500" cy="1143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/>
            <a:r>
              <a:rPr sz="900" b="1" i="0">
                <a:solidFill>
                  <a:srgbClr val="16A34A"/>
                </a:solidFill>
                <a:latin typeface="Microsoft YaHei"/>
                <a:ea typeface="Microsoft YaHei"/>
              </a:rPr>
              <a:t>【计算依据与机理】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传热机理：深冷设备通过珠光砂向外界吸热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分配依据：设备几何表面积 × 操作温差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换算功率：总漏热 30,000 kcal/h ≈ 34.89 kW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4165600"/>
            <a:ext cx="2476500" cy="736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/>
            <a:r>
              <a:rPr sz="880" b="1" i="0">
                <a:solidFill>
                  <a:srgbClr val="64748B"/>
                </a:solidFill>
                <a:latin typeface="Microsoft YaHei"/>
                <a:ea typeface="Microsoft YaHei"/>
              </a:rPr>
              <a:t>推导公式 / 核心链路：</a:t>
            </a:r>
          </a:p>
          <a:p>
            <a:pPr>
              <a:spcBef>
                <a:spcPts val="200"/>
              </a:spcBef>
            </a:pPr>
            <a:r>
              <a:rPr sz="950" b="1" i="0">
                <a:solidFill>
                  <a:srgbClr val="16A34A"/>
                </a:solidFill>
                <a:latin typeface="Calibri"/>
                <a:ea typeface="Calibri"/>
              </a:rPr>
              <a:t>主换热器 1/3 | 上塔 1/2 | 下塔 1/6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0000" y="5016500"/>
            <a:ext cx="2476500" cy="1079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rtlCol="0" anchor="ctr"/>
          <a:lstStyle/>
          <a:p>
            <a:pPr algn="ctr"/>
            <a:r>
              <a:rPr sz="919" b="1" i="0">
                <a:solidFill>
                  <a:srgbClr val="16A34A"/>
                </a:solidFill>
                <a:latin typeface="Microsoft YaHei"/>
                <a:ea typeface="Microsoft YaHei"/>
              </a:rPr>
              <a:t>阶段核心交付指标：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装置总漏热：30,000 kcal/h (34.9 kW)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0500" y="825500"/>
            <a:ext cx="27305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232900" y="965200"/>
            <a:ext cx="2425700" cy="3810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7C3AED"/>
                </a:solidFill>
                <a:latin typeface="Microsoft YaHei"/>
                <a:ea typeface="Microsoft YaHei"/>
              </a:rPr>
              <a:t>阶段四 · 全装置冷平衡推导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7500" y="1397000"/>
            <a:ext cx="24765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严谨核算绝热漏热、热端温差与液体产品三大冷损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扣除空气焦-汤节流效应制冷量后得出膨胀机负荷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按单位膨胀制冷量推导求出透平膨胀空气量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07500" y="2921000"/>
            <a:ext cx="2476500" cy="1143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/>
            <a:r>
              <a:rPr sz="900" b="1" i="0">
                <a:solidFill>
                  <a:srgbClr val="7C3AED"/>
                </a:solidFill>
                <a:latin typeface="Microsoft YaHei"/>
                <a:ea typeface="Microsoft YaHei"/>
              </a:rPr>
              <a:t>【计算依据与机理】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总冷损：ΣQ_L = 30000 + 68736 + 29900 kcal/h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焦汤产冷：Q_JT ≈ 30,000 kcal/h (节流效应)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19" b="0" i="0">
                <a:solidFill>
                  <a:srgbClr val="64748B"/>
                </a:solidFill>
                <a:latin typeface="Calibri"/>
                <a:ea typeface="Calibri"/>
              </a:rPr>
              <a:t>  有效冷量：Q_E = ΣQ_L - Q_JT = 98,636 kcal/h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07500" y="4165600"/>
            <a:ext cx="2476500" cy="736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/>
            <a:r>
              <a:rPr sz="880" b="1" i="0">
                <a:solidFill>
                  <a:srgbClr val="64748B"/>
                </a:solidFill>
                <a:latin typeface="Microsoft YaHei"/>
                <a:ea typeface="Microsoft YaHei"/>
              </a:rPr>
              <a:t>推导公式 / 核心链路：</a:t>
            </a:r>
          </a:p>
          <a:p>
            <a:pPr>
              <a:spcBef>
                <a:spcPts val="200"/>
              </a:spcBef>
            </a:pPr>
            <a:r>
              <a:rPr sz="950" b="1" i="0">
                <a:solidFill>
                  <a:srgbClr val="7C3AED"/>
                </a:solidFill>
                <a:latin typeface="Calibri"/>
                <a:ea typeface="Calibri"/>
              </a:rPr>
              <a:t>V_E = (ΣQ_loss - Q_JT) / q_e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7500" y="5016500"/>
            <a:ext cx="2476500" cy="10795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rtlCol="0" anchor="ctr"/>
          <a:lstStyle/>
          <a:p>
            <a:pPr algn="ctr"/>
            <a:r>
              <a:rPr sz="919" b="1" i="0">
                <a:solidFill>
                  <a:srgbClr val="7C3AED"/>
                </a:solidFill>
                <a:latin typeface="Microsoft YaHei"/>
                <a:ea typeface="Microsoft YaHei"/>
              </a:rPr>
              <a:t>阶段核心交付指标：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膨胀空气量：8,220 Nm³/h (11.1%)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精馏设计参数计算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2316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 dirty="0">
                <a:solidFill>
                  <a:srgbClr val="0F172A"/>
                </a:solidFill>
                <a:latin typeface="Microsoft YaHei"/>
                <a:ea typeface="Microsoft YaHei"/>
              </a:rPr>
              <a:t>2.3.1 </a:t>
            </a:r>
            <a:r>
              <a:rPr sz="1800" b="1" i="0" dirty="0" err="1">
                <a:solidFill>
                  <a:srgbClr val="0F172A"/>
                </a:solidFill>
                <a:latin typeface="Microsoft YaHei"/>
                <a:ea typeface="Microsoft YaHei"/>
              </a:rPr>
              <a:t>原料空气组分设定与加工空气量</a:t>
            </a:r>
            <a:r>
              <a:rPr lang="zh-CN" altLang="en-US" sz="1800" b="1" i="0" dirty="0">
                <a:solidFill>
                  <a:srgbClr val="0F172A"/>
                </a:solidFill>
                <a:latin typeface="Microsoft YaHei"/>
                <a:ea typeface="Microsoft YaHei"/>
              </a:rPr>
              <a:t>计算</a:t>
            </a:r>
            <a:r>
              <a:rPr sz="1800" b="1" i="0" dirty="0">
                <a:solidFill>
                  <a:srgbClr val="0F172A"/>
                </a:solidFill>
                <a:latin typeface="Microsoft YaHei"/>
                <a:ea typeface="Microsoft YaHei"/>
              </a:rPr>
              <a:t>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29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4572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41910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一、标准进料空气物性组分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氧气 (O₂)：</a:t>
            </a:r>
            <a:r>
              <a:rPr sz="1100" b="1" i="0">
                <a:solidFill>
                  <a:srgbClr val="0284C7"/>
                </a:solidFill>
                <a:latin typeface="Calibri"/>
                <a:ea typeface="Calibri"/>
              </a:rPr>
              <a:t>20.96 mol% (y_O₂ = 0.2096)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  说明：空气中主要氧化剂，空分核心分离对象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氮气 (N₂)：</a:t>
            </a:r>
            <a:r>
              <a:rPr sz="1100" b="1" i="0">
                <a:solidFill>
                  <a:srgbClr val="0284C7"/>
                </a:solidFill>
                <a:latin typeface="Calibri"/>
                <a:ea typeface="Calibri"/>
              </a:rPr>
              <a:t>78.11 mol% (y_N₂ = 0.7811)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  说明：空气中主要组分，用作高纯产品与冷源工质</a:t>
            </a:r>
          </a:p>
          <a:p>
            <a:pPr>
              <a:spcBef>
                <a:spcPts val="7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氩气 (Ar)：</a:t>
            </a:r>
            <a:r>
              <a:rPr sz="1100" b="1" i="0">
                <a:solidFill>
                  <a:srgbClr val="0284C7"/>
                </a:solidFill>
                <a:latin typeface="Calibri"/>
                <a:ea typeface="Calibri"/>
              </a:rPr>
              <a:t>0.93 mol% (y_Ar = 0.0093)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  说明：沸点介于氧氮之间，在塔中部积聚馏分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3238500"/>
            <a:ext cx="4191000" cy="15875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90" b="1" i="0">
                <a:solidFill>
                  <a:srgbClr val="D97706"/>
                </a:solidFill>
                <a:latin typeface="Microsoft YaHei"/>
                <a:ea typeface="Microsoft YaHei"/>
              </a:rPr>
              <a:t>【微量组分控制与防爆红线】 </a:t>
            </a:r>
            <a:r>
              <a:rPr sz="890" b="0" i="0">
                <a:solidFill>
                  <a:srgbClr val="1E293B"/>
                </a:solidFill>
                <a:latin typeface="Microsoft YaHei"/>
                <a:ea typeface="Microsoft YaHei"/>
              </a:rPr>
              <a:t>• 水分 (H₂O) ≤ 0.5 ppm，二氧化碳 (CO₂) ≤ 1.0 ppm（进入冷箱前经 13X 分子筛深度净化脱除，防止低温换热器冻堵结霜）
• 乙炔 (C₂H₂) ≤ 0.02 ppm，总烃 (THC) 严格受控，杜绝在主冷液氧中积聚浓缩引发燃爆！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500" y="4953000"/>
            <a:ext cx="4191000" cy="1143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0" b="1" i="0">
                <a:solidFill>
                  <a:srgbClr val="0284C7"/>
                </a:solidFill>
                <a:latin typeface="Microsoft YaHei"/>
                <a:ea typeface="Microsoft YaHei"/>
              </a:rPr>
              <a:t>【标准物态基准规范】 </a:t>
            </a:r>
            <a:r>
              <a:rPr sz="910" b="0" i="0">
                <a:solidFill>
                  <a:srgbClr val="64748B"/>
                </a:solidFill>
                <a:latin typeface="Microsoft YaHei"/>
                <a:ea typeface="Microsoft YaHei"/>
              </a:rPr>
              <a:t>工业标准立方米（Nm³）定义基准为 0 ℃ (273.15 K)、101.325 kPa (1.01325 bar) 绝对压力；手算中所有气态流量均统一基于此标态基准折算。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0" y="825500"/>
            <a:ext cx="6350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24500" y="952500"/>
            <a:ext cx="5969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二、全流程氧原子物料平衡推导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1. 产品气氧中纯氧量：</a:t>
            </a:r>
          </a:p>
          <a:p>
            <a:pPr>
              <a:spcBef>
                <a:spcPts val="200"/>
              </a:spcBef>
            </a:pPr>
            <a:r>
              <a:rPr sz="1150" b="1" i="0">
                <a:solidFill>
                  <a:srgbClr val="D97706"/>
                </a:solidFill>
                <a:latin typeface="Calibri"/>
                <a:ea typeface="Calibri"/>
              </a:rPr>
              <a:t>V_O₂(GO₂) = 15,000 × 99.6% = 14,940.00 Nm³/h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2. 产品液氧中纯氧量：</a:t>
            </a:r>
          </a:p>
          <a:p>
            <a:pPr>
              <a:spcBef>
                <a:spcPts val="200"/>
              </a:spcBef>
            </a:pPr>
            <a:r>
              <a:rPr sz="1150" b="1" i="0">
                <a:solidFill>
                  <a:srgbClr val="D97706"/>
                </a:solidFill>
                <a:latin typeface="Calibri"/>
                <a:ea typeface="Calibri"/>
              </a:rPr>
              <a:t>V_O₂(LO₂) = 80 × 99.6% = 79.68 Nm³/h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3. 总提取纯氧产量：</a:t>
            </a:r>
          </a:p>
          <a:p>
            <a:pPr>
              <a:spcBef>
                <a:spcPts val="200"/>
              </a:spcBef>
            </a:pPr>
            <a:r>
              <a:rPr sz="1150" b="1" i="0">
                <a:solidFill>
                  <a:srgbClr val="D97706"/>
                </a:solidFill>
                <a:latin typeface="Calibri"/>
                <a:ea typeface="Calibri"/>
              </a:rPr>
              <a:t>V_O₂,total = 14,940 + 79.68 = 15,019.68 Nm³/h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4. 考虑提取率反推进料氧：</a:t>
            </a:r>
          </a:p>
          <a:p>
            <a:pPr>
              <a:spcBef>
                <a:spcPts val="200"/>
              </a:spcBef>
            </a:pPr>
            <a:r>
              <a:rPr sz="1150" b="1" i="0">
                <a:solidFill>
                  <a:srgbClr val="D97706"/>
                </a:solidFill>
                <a:latin typeface="Calibri"/>
                <a:ea typeface="Calibri"/>
              </a:rPr>
              <a:t>按考核提取率 η_O₂ = 97.0%（忽略纯氮中微量 ppm 级氧）：
V_O₂,feed = 15,019.68 / 0.97 = 15,484.21 Nm³/h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5. 最终所需加工空气总量：</a:t>
            </a:r>
          </a:p>
          <a:p>
            <a:pPr>
              <a:spcBef>
                <a:spcPts val="200"/>
              </a:spcBef>
            </a:pPr>
            <a:r>
              <a:rPr sz="1150" b="1" i="0">
                <a:solidFill>
                  <a:srgbClr val="D97706"/>
                </a:solidFill>
                <a:latin typeface="Calibri"/>
                <a:ea typeface="Calibri"/>
              </a:rPr>
              <a:t>V_air = 15,484.21 / 0.2096 = 73,875.0 Nm³/h
(理论手算量：73,875 Nm³/h；工程设计计入微小漏损取基准 73,910 Nm³/h)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精馏设计参数计算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2.3.2 基于热力学与流阻的各级压力逆向推导链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30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400" y="927100"/>
            <a:ext cx="330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284C7"/>
                </a:solidFill>
                <a:latin typeface="Microsoft YaHei"/>
                <a:ea typeface="Microsoft YaHei"/>
              </a:rPr>
              <a:t>Step 1: 污氮放空与上塔顶压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400" y="1231900"/>
            <a:ext cx="3302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284C7"/>
                </a:solidFill>
                <a:latin typeface="Calibri"/>
                <a:ea typeface="Calibri"/>
              </a:rPr>
              <a:t>目标压力：P_LPC,top = 135.1 kPa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15367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降低空分能耗：污氮排空余压设为 0 kPa(g) (101.1 kPa)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沿程阻力：主换热器与过冷器 30 kPa + 阀门管损 4 kPa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反推塔顶压力：P_LPC,top = 101.1 + 30 + 4 = 135.1 kPa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730500"/>
            <a:ext cx="3302000" cy="55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4748B"/>
                </a:solidFill>
                <a:latin typeface="Microsoft YaHei"/>
                <a:ea typeface="Microsoft YaHei"/>
              </a:rPr>
              <a:t>【工程依据】消除排空背压损失，上塔顶阻力设计基点 135.1 kPa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6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5000" y="927100"/>
            <a:ext cx="330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284C7"/>
                </a:solidFill>
                <a:latin typeface="Microsoft YaHei"/>
                <a:ea typeface="Microsoft YaHei"/>
              </a:rPr>
              <a:t>Step 2: 上塔阻力与塔底温度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5000" y="1231900"/>
            <a:ext cx="3302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284C7"/>
                </a:solidFill>
                <a:latin typeface="Calibri"/>
                <a:ea typeface="Calibri"/>
              </a:rPr>
              <a:t>目标压力：P_LPC,btm = 141.6 kPa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00" y="15367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上塔设 65 块筛板塔板，单板阻力 0.1 kPa -&gt; 阻力 6.5 kPa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上塔底部压力：P_LPC,btm = 135.1 + 6.5 = 141.6 kPa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查泡点物性：141.6 kPa 下饱和液氧沸点为 -179.7 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5000" y="2730500"/>
            <a:ext cx="3302000" cy="55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4748B"/>
                </a:solidFill>
                <a:latin typeface="Microsoft YaHei"/>
                <a:ea typeface="Microsoft YaHei"/>
              </a:rPr>
              <a:t>【相平衡物性】141.6 kPa 饱和液氧沸点 -179.7 ℃，为主冷冷端基准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927100"/>
            <a:ext cx="330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Step 3: 主冷传热与下塔顶压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231900"/>
            <a:ext cx="3302000" cy="2794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D97706"/>
                </a:solidFill>
                <a:latin typeface="Calibri"/>
                <a:ea typeface="Calibri"/>
              </a:rPr>
              <a:t>目标压力：P_MPC,top = 561.2 kPa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5367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主冷凝蒸发器维持传热平均温差 ΔT = 2.0 ℃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下塔顶纯氮冷凝温度：T = -179.7 + 2.0 = -177.7 ℃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查泡点蒸气压：对应下塔顶压力 P_MPC,top = 561.2 kPa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730500"/>
            <a:ext cx="3302000" cy="55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4748B"/>
                </a:solidFill>
                <a:latin typeface="Microsoft YaHei"/>
                <a:ea typeface="Microsoft YaHei"/>
              </a:rPr>
              <a:t>【传热温差】ΔT=2.0 ℃，下塔顶氮冷凝温度 -177.7 ℃，排压 561.2 kPa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400" y="3695700"/>
            <a:ext cx="330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Step 4: 下塔阻力与塔底压力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400" y="4000500"/>
            <a:ext cx="3302000" cy="2794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D97706"/>
                </a:solidFill>
                <a:latin typeface="Calibri"/>
                <a:ea typeface="Calibri"/>
              </a:rPr>
              <a:t>目标压力：P_MPC,btm = 565.6 kPa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400" y="43053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下塔设 44 块塔板，单板流阻 0.1 kPa -&gt; 阻力 4.4 kPa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下塔底部压力：P_MPC,btm = 561.2 + 4.4 = 565.6 kPa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下塔底承接由主换热器冷却后的深冷原料空气进料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400" y="5499100"/>
            <a:ext cx="3302000" cy="55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4748B"/>
                </a:solidFill>
                <a:latin typeface="Microsoft YaHei"/>
                <a:ea typeface="Microsoft YaHei"/>
              </a:rPr>
              <a:t>【水力学压降】44 块筛板阻力累计 4.4 kPa，推导得下塔釜承压 565.6 kPa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26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45000" y="3695700"/>
            <a:ext cx="330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6A34A"/>
                </a:solidFill>
                <a:latin typeface="Microsoft YaHei"/>
                <a:ea typeface="Microsoft YaHei"/>
              </a:rPr>
              <a:t>Step 5: 低压空气流路降压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5000" y="4000500"/>
            <a:ext cx="3302000" cy="279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  <a:ea typeface="Calibri"/>
              </a:rPr>
              <a:t>目标压力：P_MS = 587.6 kPa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5000" y="43053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原料空气经主换热器冷却阻力 20 kPa，管阀阻力 2 kPa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纯化系统出口压力：P_MS = 565.6 + 20 + 2 = 587.6 kPa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保证分子筛吸附后具备充足压头顺利送入冷箱换热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5000" y="5499100"/>
            <a:ext cx="3302000" cy="55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4748B"/>
                </a:solidFill>
                <a:latin typeface="Microsoft YaHei"/>
                <a:ea typeface="Microsoft YaHei"/>
              </a:rPr>
              <a:t>【流程压降】换热器流阻 20 kPa + 管阀损失 2 kPa，分子筛出口需 587.6 kPa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72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3695700"/>
            <a:ext cx="330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6A34A"/>
                </a:solidFill>
                <a:latin typeface="Microsoft YaHei"/>
                <a:ea typeface="Microsoft YaHei"/>
              </a:rPr>
              <a:t>Step 6: 空压机出口排气压力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000500"/>
            <a:ext cx="3302000" cy="279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  <a:ea typeface="Calibri"/>
              </a:rPr>
              <a:t>目标压力：P_MAC = 607.6 kPa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3053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空压机出口至分子筛吸附系统总阻力损失按 20 kPa 计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空压机排气压力：P_MAC = 587.6 + 20 = 607.6 kPa (0.61 MPa)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为工业原料空气压缩机选型提供核心设计工况基准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499100"/>
            <a:ext cx="3302000" cy="55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4748B"/>
                </a:solidFill>
                <a:latin typeface="Microsoft YaHei"/>
                <a:ea typeface="Microsoft YaHei"/>
              </a:rPr>
              <a:t>【动设备选型】吸附净化床层阻力 20 kPa，主空压机排压锁定 0.61 MPa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精馏设计参数计算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2.3.3 装置绝热保冷漏热量估算与各主设备热负荷分配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31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4826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952500"/>
            <a:ext cx="44450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四、装置总保冷绝热冷损基准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• 装置总漏热量 Q_leak,total：</a:t>
            </a:r>
            <a:r>
              <a:rPr sz="1150" b="1" i="0">
                <a:solidFill>
                  <a:srgbClr val="D97706"/>
                </a:solidFill>
                <a:latin typeface="Calibri"/>
                <a:ea typeface="Calibri"/>
              </a:rPr>
              <a:t>30,000 kcal/h (约 34.89 kW)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保冷箱设计机理：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空分精馏塔与主冷设备处于 -180 ℃ 至 -196 ℃ 深冷区，外界环境温度（20 ℃）热量通过保冷珠光砂绝热层传入冷箱。</a:t>
            </a:r>
          </a:p>
          <a:p>
            <a:pPr>
              <a:spcBef>
                <a:spcPts val="800"/>
              </a:spcBef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★ 分配权重依据：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主要依据各设备的几何外表面积、工作温度与外界环境温差（ΔT_env）的积分加权进行比例分配。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3302000"/>
            <a:ext cx="4445000" cy="1460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0" b="1" i="0">
                <a:solidFill>
                  <a:srgbClr val="0284C7"/>
                </a:solidFill>
                <a:latin typeface="Microsoft YaHei"/>
                <a:ea typeface="Microsoft YaHei"/>
              </a:rPr>
              <a:t>【工程绝热材料与施工规范】 </a:t>
            </a:r>
            <a:r>
              <a:rPr sz="910" b="0" i="0">
                <a:solidFill>
                  <a:srgbClr val="1E293B"/>
                </a:solidFill>
                <a:latin typeface="Microsoft YaHei"/>
                <a:ea typeface="Microsoft YaHei"/>
              </a:rPr>
              <a:t>• 冷箱内部充填憎水膨胀珠光砂（Perlite）绝热层，堆积密度控制在 40~60 kg/m³
• 封入微正压干燥高纯氮气（50~100 Pa 表压），防止外界湿空气渗透结冰使绝热失效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500" y="4889500"/>
            <a:ext cx="4445000" cy="12065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0" b="1" i="0">
                <a:solidFill>
                  <a:srgbClr val="0284C7"/>
                </a:solidFill>
                <a:latin typeface="Microsoft YaHei"/>
                <a:ea typeface="Microsoft YaHei"/>
              </a:rPr>
              <a:t>【热工功率换算基准】 </a:t>
            </a:r>
            <a:r>
              <a:rPr sz="910" b="0" i="0">
                <a:solidFill>
                  <a:srgbClr val="64748B"/>
                </a:solidFill>
                <a:latin typeface="Microsoft YaHei"/>
                <a:ea typeface="Microsoft YaHei"/>
              </a:rPr>
              <a:t>1 kcal/h ≈ 1.163 W，总漏热 30,000 kcal/h 对应 34.89 kW 连续热负荷侵入；此漏热量必须由透平膨胀机产生的制冷量完全予以抵消平衡。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0" y="825500"/>
            <a:ext cx="60960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78500" y="952500"/>
            <a:ext cx="5715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Microsoft YaHei"/>
                <a:ea typeface="Microsoft YaHei"/>
              </a:rPr>
              <a:t>各主设备漏热量分配份额与计算结果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8500" y="1587500"/>
            <a:ext cx="5715000" cy="1295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5500" y="1689100"/>
            <a:ext cx="5461000" cy="11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1. 主换热器系统 (LNG-100)</a:t>
            </a:r>
            <a:r>
              <a:rPr sz="1100" b="1" i="0">
                <a:solidFill>
                  <a:srgbClr val="0284C7"/>
                </a:solidFill>
                <a:latin typeface="Microsoft YaHei"/>
                <a:ea typeface="Microsoft YaHei"/>
              </a:rPr>
              <a:t>  (占总漏热量 1/3)</a:t>
            </a:r>
          </a:p>
          <a:p>
            <a:pPr>
              <a:spcBef>
                <a:spcPts val="300"/>
              </a:spcBef>
            </a:pPr>
            <a:r>
              <a:rPr sz="1200" b="1" i="0">
                <a:solidFill>
                  <a:srgbClr val="D97706"/>
                </a:solidFill>
                <a:latin typeface="Calibri"/>
                <a:ea typeface="Calibri"/>
              </a:rPr>
              <a:t>Q1 = 30,000 × 1/3 = 10,000 kcal/h (11.63 kW)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板翅式换热器跨越常温到深冷温区，两端温差梯度大。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8500" y="3048000"/>
            <a:ext cx="5715000" cy="1295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05500" y="3149600"/>
            <a:ext cx="5461000" cy="11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2. 上塔系统 (LPC + 主冷)</a:t>
            </a:r>
            <a:r>
              <a:rPr sz="1100" b="1" i="0">
                <a:solidFill>
                  <a:srgbClr val="0284C7"/>
                </a:solidFill>
                <a:latin typeface="Microsoft YaHei"/>
                <a:ea typeface="Microsoft YaHei"/>
              </a:rPr>
              <a:t>  (占总漏热量 1/2)</a:t>
            </a:r>
          </a:p>
          <a:p>
            <a:pPr>
              <a:spcBef>
                <a:spcPts val="300"/>
              </a:spcBef>
            </a:pPr>
            <a:r>
              <a:rPr sz="1200" b="1" i="0">
                <a:solidFill>
                  <a:srgbClr val="D97706"/>
                </a:solidFill>
                <a:latin typeface="Calibri"/>
                <a:ea typeface="Calibri"/>
              </a:rPr>
              <a:t>Q2 = 30,000 × 1/2 = 15,000 kcal/h (17.45 kW)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上塔直径大、高度高、处于深冷液氧温区，漏热量最大。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78500" y="4508500"/>
            <a:ext cx="5715000" cy="1295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05500" y="4610100"/>
            <a:ext cx="5461000" cy="11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3. 下塔系统 (MPC)</a:t>
            </a:r>
            <a:r>
              <a:rPr sz="1100" b="1" i="0">
                <a:solidFill>
                  <a:srgbClr val="0284C7"/>
                </a:solidFill>
                <a:latin typeface="Microsoft YaHei"/>
                <a:ea typeface="Microsoft YaHei"/>
              </a:rPr>
              <a:t>  (占总漏热量 1/6)</a:t>
            </a:r>
          </a:p>
          <a:p>
            <a:pPr>
              <a:spcBef>
                <a:spcPts val="300"/>
              </a:spcBef>
            </a:pPr>
            <a:r>
              <a:rPr sz="1200" b="1" i="0">
                <a:solidFill>
                  <a:srgbClr val="D97706"/>
                </a:solidFill>
                <a:latin typeface="Calibri"/>
                <a:ea typeface="Calibri"/>
              </a:rPr>
              <a:t>Q3 = 30,000 × 1/6 = 5,000 kcal/h (5.82 kW)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下塔中压运行，工作温度相对较高，外露绝热面积较小。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精馏设计参数计算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2.3.4 全系统冷量平衡与透平膨胀空气量严格手算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32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000" y="965200"/>
            <a:ext cx="3352800" cy="406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0284C7"/>
                </a:solidFill>
                <a:latin typeface="Microsoft YaHei"/>
                <a:ea typeface="Microsoft YaHei"/>
              </a:rPr>
              <a:t>阶段 (1)：核算全系统总冷量损失 (ΣQ_L)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460500"/>
            <a:ext cx="33528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a. 装置绝热保冷冷损：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0284C7"/>
                </a:solidFill>
                <a:latin typeface="Calibri"/>
                <a:ea typeface="Calibri"/>
              </a:rPr>
              <a:t>Q_leak = 30,000 kcal/h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b. 主换热器热端温差冷损：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0284C7"/>
                </a:solidFill>
                <a:latin typeface="Calibri"/>
                <a:ea typeface="Calibri"/>
              </a:rPr>
              <a:t>Q_warm = 73,910 × 3 × 0.31 = 68,736 kcal/h
(理论量 73,875 Nm³/h，工程设计计微量漏损取 73,910 Nm³/h，ΔT=3 ℃，比热容 0.31 kcal/(Nm³·℃))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c. 液体产品焓差冷损：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0284C7"/>
                </a:solidFill>
                <a:latin typeface="Calibri"/>
                <a:ea typeface="Calibri"/>
              </a:rPr>
              <a:t>Q_liquid = 130 × (80 + 150) = 29,900 kcal/h
(液氧 80 Nm³/h + 液氮 150 Nm³/h，冷量损失 130 kcal/Nm³)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总冷量损失总计：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0284C7"/>
                </a:solidFill>
                <a:latin typeface="Calibri"/>
                <a:ea typeface="Calibri"/>
              </a:rPr>
              <a:t>ΣQ_L = 30,000 + 68,736 + 29,900 = 128,636 kcal/h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26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19600" y="965200"/>
            <a:ext cx="33528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D97706"/>
                </a:solidFill>
                <a:latin typeface="Microsoft YaHei"/>
                <a:ea typeface="Microsoft YaHei"/>
              </a:rPr>
              <a:t>阶段 (2)：装置产冷平衡与膨胀机负荷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1460500"/>
            <a:ext cx="3352800" cy="323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焦耳-汤姆逊 (J-T) 节流制冷量：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D97706"/>
                </a:solidFill>
                <a:latin typeface="Calibri"/>
                <a:ea typeface="Calibri"/>
              </a:rPr>
              <a:t>Q_JT ≈ 30,000 kcal/h (空气节流效应产冷)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膨胀机必须提供的有效制冷量：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D97706"/>
                </a:solidFill>
                <a:latin typeface="Calibri"/>
                <a:ea typeface="Calibri"/>
              </a:rPr>
              <a:t>Q_E = ΣQ_L - Q_JT = 128,636 - 30,000
Q_E = 98,636 kcal/h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热平衡判定法则：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D97706"/>
                </a:solidFill>
                <a:latin typeface="Calibri"/>
                <a:ea typeface="Calibri"/>
              </a:rPr>
              <a:t>若 Q_E 不足，装置冷量亏空导致温度回升；若 Q_E 过大，则换热器过冷产生冷流溢出。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9600" y="4889500"/>
            <a:ext cx="3352800" cy="12065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【冷量守恒判定】膨胀机制冷量必须严格等于系统净冷损，若产冷不足会导致冷箱跑冷温度漂移。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04200" y="965200"/>
            <a:ext cx="3352800" cy="406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16A34A"/>
                </a:solidFill>
                <a:latin typeface="Microsoft YaHei"/>
                <a:ea typeface="Microsoft YaHei"/>
              </a:rPr>
              <a:t>阶段 (3)：求透平膨胀空气量 (V_E)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4200" y="1460500"/>
            <a:ext cx="3352800" cy="323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单位膨胀空气有效制冷量：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16A34A"/>
                </a:solidFill>
                <a:latin typeface="Calibri"/>
                <a:ea typeface="Calibri"/>
              </a:rPr>
              <a:t>按经验设计取 qₑ = 12.0 kcal/Nm³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透平膨胀空气量严格计算：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16A34A"/>
                </a:solidFill>
                <a:latin typeface="Calibri"/>
                <a:ea typeface="Calibri"/>
              </a:rPr>
              <a:t>V_E = Q_E / qₑ = 98,636 / 12.0
V_E ≈ 8,220 Nm³/h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F172A"/>
                </a:solidFill>
                <a:latin typeface="Microsoft YaHei"/>
                <a:ea typeface="Microsoft YaHei"/>
              </a:rPr>
              <a:t>• 膨胀比份额验证：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80" b="1" i="0">
                <a:solidFill>
                  <a:srgbClr val="16A34A"/>
                </a:solidFill>
                <a:latin typeface="Calibri"/>
                <a:ea typeface="Calibri"/>
              </a:rPr>
              <a:t>膨胀量占进料空气总量的 8,220 / 73,875 ≈ 11.13%，处于典型低压空分 10%~14% 最佳设计区间！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4200" y="4889500"/>
            <a:ext cx="3352800" cy="12065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919" b="0" i="0">
                <a:solidFill>
                  <a:srgbClr val="1E293B"/>
                </a:solidFill>
                <a:latin typeface="Microsoft YaHei"/>
                <a:ea typeface="Microsoft YaHei"/>
              </a:rPr>
              <a:t>【工况调优结论】膨胀空气量 8,220 Nm³/h（膨胀比 11.13%）既能维持全塔冷平衡，又避免了膨胀气过大破坏上塔精馏工况。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空分流程模拟指导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2.4 Aspen HYSYS 空分双塔模拟关键参数与调优规范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33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77900"/>
            <a:ext cx="406400" cy="304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952500"/>
            <a:ext cx="2794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物性方法选型与专用数据库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1333500"/>
            <a:ext cx="3302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首选 Peng-Robinson (PR) 方程或 PRSV+Lee-Kesler 修正，确保深冷气液相平衡精度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液化空气（Air Liquide）、林德及杭氧集团均开发了专有高精度低温物性库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2755900"/>
            <a:ext cx="3302000" cy="533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【推荐设置】流体包首选 Peng-Robinson，二元交互参数矩阵全量激活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6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45000" y="977900"/>
            <a:ext cx="406400" cy="304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7600" y="952500"/>
            <a:ext cx="2794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动设备绝热效率基准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00" y="1333500"/>
            <a:ext cx="3302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离心式主空气压缩机（MAC）设计绝热效率取 80%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透平膨胀机（Expander）设计绝热膨胀效率取 86%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5000" y="2755900"/>
            <a:ext cx="3302000" cy="5334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【效率基线】设定 MAC η_ad=80%、Expander η_ad=86%，严禁按理想等熵假定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8255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977900"/>
            <a:ext cx="406400" cy="304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2200" y="952500"/>
            <a:ext cx="2794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下塔进料空气相态控制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333500"/>
            <a:ext cx="3302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下塔进料空气温度不可过低，必须保证基本为气态（气相分率 VF ≥ 0.98）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若大量带液进料，下塔子流程求解器极易陷入数值奇点难以收敛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755900"/>
            <a:ext cx="3302000" cy="533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【进料判据】下塔进气干度 VF ≥ 0.98，防止液滴冲击塔板破坏汽液分相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0400" y="3746500"/>
            <a:ext cx="406400" cy="30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721100"/>
            <a:ext cx="2794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富氧液空初值预设策略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400" y="4102100"/>
            <a:ext cx="3302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从下塔底抽出的富氧液空氧摩尔分数通常设为 38%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建模初期可先设此初值，待全系统收敛后再结合主冷负荷反向解耦优化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400" y="5524500"/>
            <a:ext cx="3302000" cy="5334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【富氧初值】设定下塔釜液空氧浓度 38%，作为双塔解耦初值加速收敛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26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45000" y="3746500"/>
            <a:ext cx="406400" cy="304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7600" y="3721100"/>
            <a:ext cx="2794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核心换热器传热温差控制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5000" y="4102100"/>
            <a:ext cx="3302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液氮/液空过冷器最小传热温差推荐取 2.0 ℃，据此计算过冷后液体温度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主冷凝蒸发器最小温差严格控制在 2.0 ℃（温差过小换热面积骤增，温差过大冷损剧增）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5000" y="5524500"/>
            <a:ext cx="3302000" cy="533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【传热夹点】主冷平均温差 ΔT=2.0 ℃，过冷器端差 2.0 ℃，保证换热安全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7200" y="3594100"/>
            <a:ext cx="3606800" cy="260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29600" y="3746500"/>
            <a:ext cx="406400" cy="304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2200" y="3721100"/>
            <a:ext cx="2794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精馏塔板数初值与结构配置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102100"/>
            <a:ext cx="3302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下塔（MPC）理论塔板数范围 20~45，设计初值推荐预设为 40 块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80" b="0" i="0">
                <a:solidFill>
                  <a:srgbClr val="1E293B"/>
                </a:solidFill>
                <a:latin typeface="Microsoft YaHei"/>
                <a:ea typeface="Microsoft YaHei"/>
              </a:rPr>
              <a:t>• 上塔（LPC）理论塔板数范围 50~80，设计初值推荐预设为 60 块，在调试中微调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524500"/>
            <a:ext cx="3302000" cy="5334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1E293B"/>
                </a:solidFill>
                <a:latin typeface="Microsoft YaHei"/>
                <a:ea typeface="Microsoft YaHei"/>
              </a:rPr>
              <a:t>【塔板初配】下塔初设 40 块、上塔初设 60 块，根据产品纯度增减微调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第二篇 · 成果提交与验收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2.5 课程设计最终提交成果标准规范与验收清单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34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111760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8500" y="977900"/>
            <a:ext cx="406400" cy="304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500" y="952500"/>
            <a:ext cx="3048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设计计算说明书</a:t>
            </a:r>
            <a:r>
              <a:rPr sz="1100" b="1" i="0">
                <a:solidFill>
                  <a:srgbClr val="0284C7"/>
                </a:solidFill>
                <a:latin typeface="Calibri"/>
                <a:ea typeface="Calibri"/>
              </a:rPr>
              <a:t>  (.docx / .pdf)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927100"/>
            <a:ext cx="71755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包含设计任务书、工艺流程简述与物料平衡/热平衡严格手算书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包含精馏塔板数确定、压力网络核算、漏热量及透平膨胀机制冷量推导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必须附上下塔、上塔内部的温度、压力、液气比及组分随塔板的分布曲线图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1905000"/>
            <a:ext cx="111760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8500" y="2057400"/>
            <a:ext cx="406400" cy="304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6500" y="2032000"/>
            <a:ext cx="3048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空分系统流程图 (A1)</a:t>
            </a:r>
            <a:r>
              <a:rPr sz="1100" b="1" i="0">
                <a:solidFill>
                  <a:srgbClr val="D97706"/>
                </a:solidFill>
                <a:latin typeface="Calibri"/>
                <a:ea typeface="Calibri"/>
              </a:rPr>
              <a:t>  (.dwg / .pdf)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006600"/>
            <a:ext cx="71755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标准 A1 工程图纸规范，严格按 JB/T 7672-95 规定图形符号与文字代号绘制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涵盖主冷凝蒸发器、双塔、主换热器、膨胀机、过冷器及全部测控仪表点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带完整标题栏、图例说明与节点物流参数表（State Points Table）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2984500"/>
            <a:ext cx="111760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8500" y="3136900"/>
            <a:ext cx="406400" cy="304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6500" y="3111500"/>
            <a:ext cx="3048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HYSYS 仿真模型程序</a:t>
            </a:r>
            <a:r>
              <a:rPr sz="1100" b="1" i="0">
                <a:solidFill>
                  <a:srgbClr val="16A34A"/>
                </a:solidFill>
                <a:latin typeface="Calibri"/>
                <a:ea typeface="Calibri"/>
              </a:rPr>
              <a:t>  (.hsc)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3086100"/>
            <a:ext cx="71755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双塔全流程终版仿真程序（如 03-仿真程序终版.hsc）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全流程所有设备与物流必须处于完全求解收敛状态（底层状态栏绿色 OK）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物流命名清晰规范，严格对应 A1 流程图中的管线编号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4064000"/>
            <a:ext cx="111760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8500" y="4216400"/>
            <a:ext cx="406400" cy="30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6500" y="4191000"/>
            <a:ext cx="3048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仿真数据汇总报表</a:t>
            </a:r>
            <a:r>
              <a:rPr sz="1100" b="1" i="0">
                <a:solidFill>
                  <a:srgbClr val="7C3AED"/>
                </a:solidFill>
                <a:latin typeface="Calibri"/>
                <a:ea typeface="Calibri"/>
              </a:rPr>
              <a:t>  (.xlsx)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0" y="4165600"/>
            <a:ext cx="71755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包含主要物流节点状态汇总表（T, P, 流量, 摩尔/质量组成, 焓, 熵, 气相分率）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包含压缩机、膨胀机轴功率功耗汇总与全装置单位产品能耗评估表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000" y="5143500"/>
            <a:ext cx="111760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8500" y="5295900"/>
            <a:ext cx="406400" cy="304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6500" y="5270500"/>
            <a:ext cx="3048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答辩汇报演示文稿</a:t>
            </a:r>
            <a:r>
              <a:rPr sz="1100" b="1" i="0">
                <a:solidFill>
                  <a:srgbClr val="0284C7"/>
                </a:solidFill>
                <a:latin typeface="Calibri"/>
                <a:ea typeface="Calibri"/>
              </a:rPr>
              <a:t>  (.pptx)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8000" y="5245100"/>
            <a:ext cx="71755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答辩演示文稿（10~15 分钟陈述量）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1000" b="0" i="0">
                <a:solidFill>
                  <a:srgbClr val="1E293B"/>
                </a:solidFill>
                <a:latin typeface="Microsoft YaHei"/>
                <a:ea typeface="Microsoft YaHei"/>
              </a:rPr>
              <a:t>• 重点阐述设计思路、手算与仿真数据对比、流程优化亮点及工程思考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000" y="228600"/>
            <a:ext cx="2286000" cy="279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sz="950" b="1" i="0">
                <a:solidFill>
                  <a:srgbClr val="0284C7"/>
                </a:solidFill>
                <a:latin typeface="Microsoft YaHei"/>
                <a:ea typeface="Microsoft YaHei"/>
              </a:rPr>
              <a:t>结语 · 总结与进阶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1000" y="177800"/>
            <a:ext cx="8763000" cy="381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课程实训总结与化工工程师工程素养进阶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609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8000" y="6451600"/>
            <a:ext cx="11176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65024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65024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  <a:ea typeface="Calibri"/>
              </a:rPr>
              <a:t>35 /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400" y="965200"/>
            <a:ext cx="3302000" cy="406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</a:rPr>
              <a:t>理论与手算功底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498600"/>
            <a:ext cx="3302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深冷相平衡与物热平衡手算是模拟根基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掌握逆向压力链传递与膨胀机制冷平衡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为仿真提供合理初值，杜绝盲目试凑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400" y="3175000"/>
            <a:ext cx="3302000" cy="28956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200" y="3276600"/>
            <a:ext cx="32004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0284C7"/>
                </a:solidFill>
                <a:latin typeface="Microsoft YaHei"/>
                <a:ea typeface="Microsoft YaHei"/>
              </a:rPr>
              <a:t>【能力进阶要求】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3683000"/>
            <a:ext cx="32004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透彻理解物性方法与相平衡方程适用范围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具备压力-温差-焓值强耦合系统灵敏度直觉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熟练运用各段物料冷量自平衡校验仿真结果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6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45000" y="965200"/>
            <a:ext cx="3302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D97706"/>
                </a:solidFill>
                <a:latin typeface="Microsoft YaHei"/>
                <a:ea typeface="Microsoft YaHei"/>
              </a:rPr>
              <a:t>现代工程工具赋能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00" y="1498600"/>
            <a:ext cx="3302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熟练运用 HYSYS 相平衡闪蒸与精馏子流程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从容解算强非线性多变量深度耦合系统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善用 Workbook 与灵敏度分析寻优节能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5000" y="3175000"/>
            <a:ext cx="3302000" cy="28956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5800" y="3276600"/>
            <a:ext cx="32004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D97706"/>
                </a:solidFill>
                <a:latin typeface="Microsoft YaHei"/>
                <a:ea typeface="Microsoft YaHei"/>
              </a:rPr>
              <a:t>【工程方法进阶】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800" y="3683000"/>
            <a:ext cx="32004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遵循“先单元后集成、先开环后闭环”策略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开展主冷传热端差与操作压力协同寻优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为从稳态设计向动态开停车与控制迁移奠基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7200" y="825500"/>
            <a:ext cx="3606800" cy="546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0" y="965200"/>
            <a:ext cx="3302000" cy="406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</a:rPr>
              <a:t>规范素养与责任感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498600"/>
            <a:ext cx="3302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严格遵循 JB/T 7672 标准规范图纸代号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高度关注主冷烃类防爆与比电耗能效指标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Microsoft YaHei"/>
                <a:ea typeface="Microsoft YaHei"/>
              </a:rPr>
              <a:t>★ 培养知其然知其所以然的卓越工程师思维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175000"/>
            <a:ext cx="3302000" cy="28956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0400" y="3276600"/>
            <a:ext cx="32004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16A34A"/>
                </a:solidFill>
                <a:latin typeface="Microsoft YaHei"/>
                <a:ea typeface="Microsoft YaHei"/>
              </a:rPr>
              <a:t>【工程素养基线】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400" y="3683000"/>
            <a:ext cx="32004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坚守主冷烃类乙炔浓度防爆安全绝对红线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追求单位产品比电耗（kW·h/m³ O₂）极致降低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960" b="0" i="0">
                <a:solidFill>
                  <a:srgbClr val="1E293B"/>
                </a:solidFill>
                <a:latin typeface="Microsoft YaHei"/>
                <a:ea typeface="Microsoft YaHei"/>
              </a:rPr>
              <a:t>✔ 养成设计说明书与装配图纸工程化归档习惯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2000" y="1905000"/>
            <a:ext cx="8128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Microsoft YaHei"/>
                <a:ea typeface="Microsoft YaHei"/>
              </a:rPr>
              <a:t>谢谢大家！</a:t>
            </a:r>
          </a:p>
          <a:p>
            <a:pPr algn="ctr">
              <a:spcBef>
                <a:spcPts val="1200"/>
              </a:spcBef>
            </a:pPr>
            <a:r>
              <a:rPr sz="1800" b="0" i="0">
                <a:solidFill>
                  <a:srgbClr val="00D2D3"/>
                </a:solidFill>
                <a:latin typeface="Microsoft YaHei"/>
                <a:ea typeface="Microsoft YaHei"/>
              </a:rPr>
              <a:t>敬请各位老师、同学批评指正</a:t>
            </a:r>
          </a:p>
        </p:txBody>
      </p:sp>
      <p:sp>
        <p:nvSpPr>
          <p:cNvPr id="3" name="Rectangle 2"/>
          <p:cNvSpPr/>
          <p:nvPr/>
        </p:nvSpPr>
        <p:spPr>
          <a:xfrm>
            <a:off x="4191000" y="3683000"/>
            <a:ext cx="3810000" cy="12700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32000" y="4064000"/>
            <a:ext cx="8128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Microsoft YaHei"/>
                <a:ea typeface="Microsoft YaHei"/>
              </a:rPr>
              <a:t>Aspen HYSYS 低温空分过程模拟与课程设计实训教程</a:t>
            </a:r>
          </a:p>
          <a:p>
            <a:pPr algn="ctr">
              <a:spcBef>
                <a:spcPts val="400"/>
              </a:spcBef>
            </a:pPr>
            <a:r>
              <a:rPr sz="1050" b="0" i="0">
                <a:solidFill>
                  <a:srgbClr val="94A3B8"/>
                </a:solidFill>
                <a:latin typeface="Microsoft YaHei"/>
                <a:ea typeface="Microsoft YaHei"/>
              </a:rPr>
              <a:t>面向高校化工、能源动力与低温工程专业教学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5425</Words>
  <Application>Microsoft Office PowerPoint</Application>
  <PresentationFormat>宽屏</PresentationFormat>
  <Paragraphs>759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Johnson</cp:lastModifiedBy>
  <cp:revision>2</cp:revision>
  <dcterms:created xsi:type="dcterms:W3CDTF">2013-01-27T09:14:16Z</dcterms:created>
  <dcterms:modified xsi:type="dcterms:W3CDTF">2026-09-27T07:22:14Z</dcterms:modified>
  <cp:category/>
</cp:coreProperties>
</file>